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Century Schoolbook"/>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Schoolbook-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Schoolbook-italic.fntdata"/><Relationship Id="rId30" Type="http://schemas.openxmlformats.org/officeDocument/2006/relationships/font" Target="fonts/CenturySchoolbook-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CenturySchoolbook-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nl-B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iets zeggen over da we meerdere keren hebben samengezeten en dan gewoon dingen die we wouden doen tegen de volgende sprint in het kanban board gezet en dat we zo eigenlijk de taken wat verdeelde</a:t>
            </a:r>
            <a:endParaRPr/>
          </a:p>
        </p:txBody>
      </p:sp>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170923cc2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170923cc2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Vertellen welke relaties er zijn en het soort relatie, vb. 1:1 of 1:N (“elke user kan oneindig veel reservaties hebben, maar een reservatie is gekoppeld aan 1 user”). De tabel zelf wordt later in detail uitgelegd.</a:t>
            </a:r>
            <a:endParaRPr/>
          </a:p>
        </p:txBody>
      </p:sp>
      <p:sp>
        <p:nvSpPr>
          <p:cNvPr id="163" name="Google Shape;163;g3b170923cc2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B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ook github copilot vermelden? (ai tool bij coderen)</a:t>
            </a:r>
            <a:endParaRPr/>
          </a:p>
        </p:txBody>
      </p:sp>
      <p:sp>
        <p:nvSpPr>
          <p:cNvPr id="170" name="Google Shape;1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1a2a6164b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b1a2a6164b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1a2a6164b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b1a2a6164b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uitleg hoe code werkt aan de hand van de 4 stappen die gebruikt zijn</a:t>
            </a:r>
            <a:endParaRPr/>
          </a:p>
        </p:txBody>
      </p:sp>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b170923cc2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b170923cc2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stap 3: score berekening (sterren score + sentiment score in ‘extra opmerkingen’)</a:t>
            </a:r>
            <a:endParaRPr/>
          </a:p>
        </p:txBody>
      </p:sp>
      <p:sp>
        <p:nvSpPr>
          <p:cNvPr id="229" name="Google Shape;229;g3b170923cc2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B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b170923cc2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b170923cc2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link met database woorden</a:t>
            </a:r>
            <a:endParaRPr/>
          </a:p>
        </p:txBody>
      </p:sp>
      <p:sp>
        <p:nvSpPr>
          <p:cNvPr id="237" name="Google Shape;237;g3b170923cc2_0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B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170923cc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b170923cc2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de tabellen voor complex algoritme </a:t>
            </a:r>
            <a:endParaRPr/>
          </a:p>
        </p:txBody>
      </p:sp>
      <p:sp>
        <p:nvSpPr>
          <p:cNvPr id="249" name="Google Shape;249;g3b170923cc2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B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nl-BE"/>
              <a:t>Gewoon algemene foto, in detail uitgelegd later in de ppt</a:t>
            </a:r>
            <a:endParaRPr/>
          </a:p>
        </p:txBody>
      </p:sp>
      <p:sp>
        <p:nvSpPr>
          <p:cNvPr id="270" name="Google Shape;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nl-BE"/>
              <a:t>Uitleggen waarom type input, nullables, foreign keys, primary key , etc.</a:t>
            </a:r>
            <a:endParaRPr/>
          </a:p>
          <a:p>
            <a:pPr indent="0" lvl="0" marL="0" rtl="0" algn="l">
              <a:spcBef>
                <a:spcPts val="0"/>
              </a:spcBef>
              <a:spcAft>
                <a:spcPts val="0"/>
              </a:spcAft>
              <a:buNone/>
            </a:pPr>
            <a:r>
              <a:t/>
            </a:r>
            <a:endParaRPr/>
          </a:p>
        </p:txBody>
      </p:sp>
      <p:sp>
        <p:nvSpPr>
          <p:cNvPr id="278" name="Google Shape;2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nl-BE"/>
              <a:t>Uitleggen waarom type input, nullables, foreign keys, primary key , etc.</a:t>
            </a:r>
            <a:endParaRPr/>
          </a:p>
          <a:p>
            <a:pPr indent="0" lvl="0" marL="0" rtl="0" algn="l">
              <a:spcBef>
                <a:spcPts val="0"/>
              </a:spcBef>
              <a:spcAft>
                <a:spcPts val="0"/>
              </a:spcAft>
              <a:buNone/>
            </a:pPr>
            <a:r>
              <a:t/>
            </a:r>
            <a:endParaRPr/>
          </a:p>
        </p:txBody>
      </p:sp>
      <p:sp>
        <p:nvSpPr>
          <p:cNvPr id="285" name="Google Shape;2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nl-BE"/>
              <a:t>Uitleggen waarom type input, nullables, foreign keys, primary key , etc. ook dat er een melding wordt gegeven als er een bureau misschien verwijderd wordt dat vraagt voor bevestiging omdat er mogelijk reservaties bestaan op dat bureau</a:t>
            </a:r>
            <a:endParaRPr/>
          </a:p>
          <a:p>
            <a:pPr indent="0" lvl="0" marL="0" rtl="0" algn="l">
              <a:spcBef>
                <a:spcPts val="0"/>
              </a:spcBef>
              <a:spcAft>
                <a:spcPts val="0"/>
              </a:spcAft>
              <a:buNone/>
            </a:pPr>
            <a:r>
              <a:t/>
            </a:r>
            <a:endParaRPr/>
          </a:p>
        </p:txBody>
      </p:sp>
      <p:sp>
        <p:nvSpPr>
          <p:cNvPr id="294" name="Google Shape;2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B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BE"/>
              <a:t>zeggen da het logo enzo aanpast en da elke organisatie zijn eigen aparte reservaties enzo heeft en ook de woorden voor in het algoritme kan je apart per organisatie aanpassen</a:t>
            </a:r>
            <a:endParaRPr/>
          </a:p>
        </p:txBody>
      </p:sp>
      <p:sp>
        <p:nvSpPr>
          <p:cNvPr id="302" name="Google Shape;3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1a2a6164b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b1a2a6164b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showMasterSp="0" type="title">
  <p:cSld name="TITLE">
    <p:bg>
      <p:bgPr>
        <a:solidFill>
          <a:srgbClr val="4A533D"/>
        </a:solidFill>
      </p:bgPr>
    </p:bg>
    <p:spTree>
      <p:nvGrpSpPr>
        <p:cNvPr id="17" name="Shape 17"/>
        <p:cNvGrpSpPr/>
        <p:nvPr/>
      </p:nvGrpSpPr>
      <p:grpSpPr>
        <a:xfrm>
          <a:off x="0" y="0"/>
          <a:ext cx="0" cy="0"/>
          <a:chOff x="0" y="0"/>
          <a:chExt cx="0" cy="0"/>
        </a:xfrm>
      </p:grpSpPr>
      <p:sp>
        <p:nvSpPr>
          <p:cNvPr id="18" name="Google Shape;18;p2"/>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20" name="Google Shape;20;p2"/>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sz="3600">
                <a:solidFill>
                  <a:srgbClr val="A5A5A5"/>
                </a:solidFill>
                <a:latin typeface="Century Schoolbook"/>
                <a:ea typeface="Century Schoolbook"/>
                <a:cs typeface="Century Schoolbook"/>
                <a:sym typeface="Century Schoolbook"/>
              </a:defRPr>
            </a:lvl1pPr>
            <a:lvl2pPr indent="0" lvl="1" marL="0" algn="ctr">
              <a:spcBef>
                <a:spcPts val="0"/>
              </a:spcBef>
              <a:buNone/>
              <a:defRPr sz="3600">
                <a:solidFill>
                  <a:srgbClr val="A5A5A5"/>
                </a:solidFill>
                <a:latin typeface="Century Schoolbook"/>
                <a:ea typeface="Century Schoolbook"/>
                <a:cs typeface="Century Schoolbook"/>
                <a:sym typeface="Century Schoolbook"/>
              </a:defRPr>
            </a:lvl2pPr>
            <a:lvl3pPr indent="0" lvl="2" marL="0" algn="ctr">
              <a:spcBef>
                <a:spcPts val="0"/>
              </a:spcBef>
              <a:buNone/>
              <a:defRPr sz="3600">
                <a:solidFill>
                  <a:srgbClr val="A5A5A5"/>
                </a:solidFill>
                <a:latin typeface="Century Schoolbook"/>
                <a:ea typeface="Century Schoolbook"/>
                <a:cs typeface="Century Schoolbook"/>
                <a:sym typeface="Century Schoolbook"/>
              </a:defRPr>
            </a:lvl3pPr>
            <a:lvl4pPr indent="0" lvl="3" marL="0" algn="ctr">
              <a:spcBef>
                <a:spcPts val="0"/>
              </a:spcBef>
              <a:buNone/>
              <a:defRPr sz="3600">
                <a:solidFill>
                  <a:srgbClr val="A5A5A5"/>
                </a:solidFill>
                <a:latin typeface="Century Schoolbook"/>
                <a:ea typeface="Century Schoolbook"/>
                <a:cs typeface="Century Schoolbook"/>
                <a:sym typeface="Century Schoolbook"/>
              </a:defRPr>
            </a:lvl4pPr>
            <a:lvl5pPr indent="0" lvl="4" marL="0" algn="ctr">
              <a:spcBef>
                <a:spcPts val="0"/>
              </a:spcBef>
              <a:buNone/>
              <a:defRPr sz="3600">
                <a:solidFill>
                  <a:srgbClr val="A5A5A5"/>
                </a:solidFill>
                <a:latin typeface="Century Schoolbook"/>
                <a:ea typeface="Century Schoolbook"/>
                <a:cs typeface="Century Schoolbook"/>
                <a:sym typeface="Century Schoolbook"/>
              </a:defRPr>
            </a:lvl5pPr>
            <a:lvl6pPr indent="0" lvl="5" marL="0" algn="ctr">
              <a:spcBef>
                <a:spcPts val="0"/>
              </a:spcBef>
              <a:buNone/>
              <a:defRPr sz="3600">
                <a:solidFill>
                  <a:srgbClr val="A5A5A5"/>
                </a:solidFill>
                <a:latin typeface="Century Schoolbook"/>
                <a:ea typeface="Century Schoolbook"/>
                <a:cs typeface="Century Schoolbook"/>
                <a:sym typeface="Century Schoolbook"/>
              </a:defRPr>
            </a:lvl6pPr>
            <a:lvl7pPr indent="0" lvl="6" marL="0" algn="ctr">
              <a:spcBef>
                <a:spcPts val="0"/>
              </a:spcBef>
              <a:buNone/>
              <a:defRPr sz="3600">
                <a:solidFill>
                  <a:srgbClr val="A5A5A5"/>
                </a:solidFill>
                <a:latin typeface="Century Schoolbook"/>
                <a:ea typeface="Century Schoolbook"/>
                <a:cs typeface="Century Schoolbook"/>
                <a:sym typeface="Century Schoolbook"/>
              </a:defRPr>
            </a:lvl7pPr>
            <a:lvl8pPr indent="0" lvl="7" marL="0" algn="ctr">
              <a:spcBef>
                <a:spcPts val="0"/>
              </a:spcBef>
              <a:buNone/>
              <a:defRPr sz="3600">
                <a:solidFill>
                  <a:srgbClr val="A5A5A5"/>
                </a:solidFill>
                <a:latin typeface="Century Schoolbook"/>
                <a:ea typeface="Century Schoolbook"/>
                <a:cs typeface="Century Schoolbook"/>
                <a:sym typeface="Century Schoolbook"/>
              </a:defRPr>
            </a:lvl8pPr>
            <a:lvl9pPr indent="0" lvl="8" marL="0" algn="ctr">
              <a:spcBef>
                <a:spcPts val="0"/>
              </a:spcBef>
              <a:buNone/>
              <a:defRPr sz="3600">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nl-BE"/>
              <a:t>‹#›</a:t>
            </a:fld>
            <a:endParaRPr/>
          </a:p>
        </p:txBody>
      </p:sp>
      <p:sp>
        <p:nvSpPr>
          <p:cNvPr id="23" name="Google Shape;23;p2"/>
          <p:cNvSpPr/>
          <p:nvPr/>
        </p:nvSpPr>
        <p:spPr>
          <a:xfrm>
            <a:off x="0" y="0"/>
            <a:ext cx="457200" cy="6858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27" name="Google Shape;27;p3"/>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38" name="Shape 38"/>
        <p:cNvGrpSpPr/>
        <p:nvPr/>
      </p:nvGrpSpPr>
      <p:grpSpPr>
        <a:xfrm>
          <a:off x="0" y="0"/>
          <a:ext cx="0" cy="0"/>
          <a:chOff x="0" y="0"/>
          <a:chExt cx="0" cy="0"/>
        </a:xfrm>
      </p:grpSpPr>
      <p:sp>
        <p:nvSpPr>
          <p:cNvPr id="39" name="Google Shape;39;p5"/>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41" name="Google Shape;41;p5"/>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showMasterSp="0" type="title">
  <p:cSld name="TITLE">
    <p:bg>
      <p:bgPr>
        <a:solidFill>
          <a:srgbClr val="4A533D"/>
        </a:solidFill>
      </p:bgPr>
    </p:bg>
    <p:spTree>
      <p:nvGrpSpPr>
        <p:cNvPr id="44" name="Shape 44"/>
        <p:cNvGrpSpPr/>
        <p:nvPr/>
      </p:nvGrpSpPr>
      <p:grpSpPr>
        <a:xfrm>
          <a:off x="0" y="0"/>
          <a:ext cx="0" cy="0"/>
          <a:chOff x="0" y="0"/>
          <a:chExt cx="0" cy="0"/>
        </a:xfrm>
      </p:grpSpPr>
      <p:sp>
        <p:nvSpPr>
          <p:cNvPr id="45" name="Google Shape;45;p6"/>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47" name="Google Shape;47;p6"/>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sz="3600">
                <a:solidFill>
                  <a:srgbClr val="A5A5A5"/>
                </a:solidFill>
                <a:latin typeface="Century Schoolbook"/>
                <a:ea typeface="Century Schoolbook"/>
                <a:cs typeface="Century Schoolbook"/>
                <a:sym typeface="Century Schoolbook"/>
              </a:defRPr>
            </a:lvl1pPr>
            <a:lvl2pPr indent="0" lvl="1" marL="0" algn="ctr">
              <a:spcBef>
                <a:spcPts val="0"/>
              </a:spcBef>
              <a:buNone/>
              <a:defRPr sz="3600">
                <a:solidFill>
                  <a:srgbClr val="A5A5A5"/>
                </a:solidFill>
                <a:latin typeface="Century Schoolbook"/>
                <a:ea typeface="Century Schoolbook"/>
                <a:cs typeface="Century Schoolbook"/>
                <a:sym typeface="Century Schoolbook"/>
              </a:defRPr>
            </a:lvl2pPr>
            <a:lvl3pPr indent="0" lvl="2" marL="0" algn="ctr">
              <a:spcBef>
                <a:spcPts val="0"/>
              </a:spcBef>
              <a:buNone/>
              <a:defRPr sz="3600">
                <a:solidFill>
                  <a:srgbClr val="A5A5A5"/>
                </a:solidFill>
                <a:latin typeface="Century Schoolbook"/>
                <a:ea typeface="Century Schoolbook"/>
                <a:cs typeface="Century Schoolbook"/>
                <a:sym typeface="Century Schoolbook"/>
              </a:defRPr>
            </a:lvl3pPr>
            <a:lvl4pPr indent="0" lvl="3" marL="0" algn="ctr">
              <a:spcBef>
                <a:spcPts val="0"/>
              </a:spcBef>
              <a:buNone/>
              <a:defRPr sz="3600">
                <a:solidFill>
                  <a:srgbClr val="A5A5A5"/>
                </a:solidFill>
                <a:latin typeface="Century Schoolbook"/>
                <a:ea typeface="Century Schoolbook"/>
                <a:cs typeface="Century Schoolbook"/>
                <a:sym typeface="Century Schoolbook"/>
              </a:defRPr>
            </a:lvl4pPr>
            <a:lvl5pPr indent="0" lvl="4" marL="0" algn="ctr">
              <a:spcBef>
                <a:spcPts val="0"/>
              </a:spcBef>
              <a:buNone/>
              <a:defRPr sz="3600">
                <a:solidFill>
                  <a:srgbClr val="A5A5A5"/>
                </a:solidFill>
                <a:latin typeface="Century Schoolbook"/>
                <a:ea typeface="Century Schoolbook"/>
                <a:cs typeface="Century Schoolbook"/>
                <a:sym typeface="Century Schoolbook"/>
              </a:defRPr>
            </a:lvl5pPr>
            <a:lvl6pPr indent="0" lvl="5" marL="0" algn="ctr">
              <a:spcBef>
                <a:spcPts val="0"/>
              </a:spcBef>
              <a:buNone/>
              <a:defRPr sz="3600">
                <a:solidFill>
                  <a:srgbClr val="A5A5A5"/>
                </a:solidFill>
                <a:latin typeface="Century Schoolbook"/>
                <a:ea typeface="Century Schoolbook"/>
                <a:cs typeface="Century Schoolbook"/>
                <a:sym typeface="Century Schoolbook"/>
              </a:defRPr>
            </a:lvl6pPr>
            <a:lvl7pPr indent="0" lvl="6" marL="0" algn="ctr">
              <a:spcBef>
                <a:spcPts val="0"/>
              </a:spcBef>
              <a:buNone/>
              <a:defRPr sz="3600">
                <a:solidFill>
                  <a:srgbClr val="A5A5A5"/>
                </a:solidFill>
                <a:latin typeface="Century Schoolbook"/>
                <a:ea typeface="Century Schoolbook"/>
                <a:cs typeface="Century Schoolbook"/>
                <a:sym typeface="Century Schoolbook"/>
              </a:defRPr>
            </a:lvl7pPr>
            <a:lvl8pPr indent="0" lvl="7" marL="0" algn="ctr">
              <a:spcBef>
                <a:spcPts val="0"/>
              </a:spcBef>
              <a:buNone/>
              <a:defRPr sz="3600">
                <a:solidFill>
                  <a:srgbClr val="A5A5A5"/>
                </a:solidFill>
                <a:latin typeface="Century Schoolbook"/>
                <a:ea typeface="Century Schoolbook"/>
                <a:cs typeface="Century Schoolbook"/>
                <a:sym typeface="Century Schoolbook"/>
              </a:defRPr>
            </a:lvl8pPr>
            <a:lvl9pPr indent="0" lvl="8" marL="0" algn="ctr">
              <a:spcBef>
                <a:spcPts val="0"/>
              </a:spcBef>
              <a:buNone/>
              <a:defRPr sz="3600">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nl-BE"/>
              <a:t>‹#›</a:t>
            </a:fld>
            <a:endParaRPr/>
          </a:p>
        </p:txBody>
      </p:sp>
      <p:sp>
        <p:nvSpPr>
          <p:cNvPr id="50" name="Google Shape;50;p6"/>
          <p:cNvSpPr/>
          <p:nvPr/>
        </p:nvSpPr>
        <p:spPr>
          <a:xfrm>
            <a:off x="0" y="0"/>
            <a:ext cx="457200" cy="68580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ekop" type="secHead">
  <p:cSld name="SECTION_HEADER">
    <p:spTree>
      <p:nvGrpSpPr>
        <p:cNvPr id="51" name="Shape 51"/>
        <p:cNvGrpSpPr/>
        <p:nvPr/>
      </p:nvGrpSpPr>
      <p:grpSpPr>
        <a:xfrm>
          <a:off x="0" y="0"/>
          <a:ext cx="0" cy="0"/>
          <a:chOff x="0" y="0"/>
          <a:chExt cx="0" cy="0"/>
        </a:xfrm>
      </p:grpSpPr>
      <p:sp>
        <p:nvSpPr>
          <p:cNvPr id="52" name="Google Shape;52;p7"/>
          <p:cNvSpPr txBox="1"/>
          <p:nvPr>
            <p:ph type="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7200"/>
              <a:buFont typeface="Century Schoolbook"/>
              <a:buNone/>
              <a:defRPr b="0"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1" type="body"/>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400"/>
              </a:spcBef>
              <a:spcAft>
                <a:spcPts val="0"/>
              </a:spcAft>
              <a:buSzPts val="1760"/>
              <a:buNone/>
              <a:defRPr sz="2200">
                <a:solidFill>
                  <a:srgbClr val="595959"/>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
        <p:nvSpPr>
          <p:cNvPr id="54" name="Google Shape;54;p7"/>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
        <p:nvSpPr>
          <p:cNvPr id="57" name="Google Shape;57;p7"/>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oud van twee" type="twoObj">
  <p:cSld name="TWO_OBJECTS">
    <p:spTree>
      <p:nvGrpSpPr>
        <p:cNvPr id="58" name="Shape 58"/>
        <p:cNvGrpSpPr/>
        <p:nvPr/>
      </p:nvGrpSpPr>
      <p:grpSpPr>
        <a:xfrm>
          <a:off x="0" y="0"/>
          <a:ext cx="0" cy="0"/>
          <a:chOff x="0" y="0"/>
          <a:chExt cx="0" cy="0"/>
        </a:xfrm>
      </p:grpSpPr>
      <p:sp>
        <p:nvSpPr>
          <p:cNvPr id="59" name="Google Shape;59;p8"/>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
          <p:cNvSpPr txBox="1"/>
          <p:nvPr>
            <p:ph idx="1" type="body"/>
          </p:nvPr>
        </p:nvSpPr>
        <p:spPr>
          <a:xfrm>
            <a:off x="1261872" y="1828800"/>
            <a:ext cx="44805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1" name="Google Shape;61;p8"/>
          <p:cNvSpPr txBox="1"/>
          <p:nvPr>
            <p:ph idx="2" type="body"/>
          </p:nvPr>
        </p:nvSpPr>
        <p:spPr>
          <a:xfrm>
            <a:off x="6126480" y="1828800"/>
            <a:ext cx="44805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2" name="Google Shape;62;p8"/>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elijking" type="twoTxTwoObj">
  <p:cSld name="TWO_OBJECTS_WITH_TEXT">
    <p:spTree>
      <p:nvGrpSpPr>
        <p:cNvPr id="65" name="Shape 65"/>
        <p:cNvGrpSpPr/>
        <p:nvPr/>
      </p:nvGrpSpPr>
      <p:grpSpPr>
        <a:xfrm>
          <a:off x="0" y="0"/>
          <a:ext cx="0" cy="0"/>
          <a:chOff x="0" y="0"/>
          <a:chExt cx="0" cy="0"/>
        </a:xfrm>
      </p:grpSpPr>
      <p:sp>
        <p:nvSpPr>
          <p:cNvPr id="66" name="Google Shape;66;p9"/>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txBox="1"/>
          <p:nvPr>
            <p:ph idx="1" type="body"/>
          </p:nvPr>
        </p:nvSpPr>
        <p:spPr>
          <a:xfrm>
            <a:off x="1261872" y="1713655"/>
            <a:ext cx="448056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68" name="Google Shape;68;p9"/>
          <p:cNvSpPr txBox="1"/>
          <p:nvPr>
            <p:ph idx="2" type="body"/>
          </p:nvPr>
        </p:nvSpPr>
        <p:spPr>
          <a:xfrm>
            <a:off x="1261872" y="2507550"/>
            <a:ext cx="448056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9" name="Google Shape;69;p9"/>
          <p:cNvSpPr txBox="1"/>
          <p:nvPr>
            <p:ph idx="3" type="body"/>
          </p:nvPr>
        </p:nvSpPr>
        <p:spPr>
          <a:xfrm>
            <a:off x="6126480" y="1713655"/>
            <a:ext cx="448056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latin typeface="Century Schoolbook"/>
                <a:ea typeface="Century Schoolbook"/>
                <a:cs typeface="Century Schoolbook"/>
                <a:sym typeface="Century Schoolbook"/>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70" name="Google Shape;70;p9"/>
          <p:cNvSpPr txBox="1"/>
          <p:nvPr>
            <p:ph idx="4" type="body"/>
          </p:nvPr>
        </p:nvSpPr>
        <p:spPr>
          <a:xfrm>
            <a:off x="6126480" y="2507550"/>
            <a:ext cx="448056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1" name="Google Shape;71;p9"/>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een titel" type="titleOnly">
  <p:cSld name="TITLE_ONLY">
    <p:spTree>
      <p:nvGrpSpPr>
        <p:cNvPr id="74" name="Shape 74"/>
        <p:cNvGrpSpPr/>
        <p:nvPr/>
      </p:nvGrpSpPr>
      <p:grpSpPr>
        <a:xfrm>
          <a:off x="0" y="0"/>
          <a:ext cx="0" cy="0"/>
          <a:chOff x="0" y="0"/>
          <a:chExt cx="0" cy="0"/>
        </a:xfrm>
      </p:grpSpPr>
      <p:sp>
        <p:nvSpPr>
          <p:cNvPr id="75" name="Google Shape;75;p10"/>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0"/>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g" type="blank">
  <p:cSld name="BLANK">
    <p:spTree>
      <p:nvGrpSpPr>
        <p:cNvPr id="79" name="Shape 79"/>
        <p:cNvGrpSpPr/>
        <p:nvPr/>
      </p:nvGrpSpPr>
      <p:grpSpPr>
        <a:xfrm>
          <a:off x="0" y="0"/>
          <a:ext cx="0" cy="0"/>
          <a:chOff x="0" y="0"/>
          <a:chExt cx="0" cy="0"/>
        </a:xfrm>
      </p:grpSpPr>
      <p:sp>
        <p:nvSpPr>
          <p:cNvPr id="80" name="Google Shape;80;p11"/>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oud met bijschrift" type="objTx">
  <p:cSld name="OBJECT_WITH_CAPTION_TEXT">
    <p:spTree>
      <p:nvGrpSpPr>
        <p:cNvPr id="83" name="Shape 83"/>
        <p:cNvGrpSpPr/>
        <p:nvPr/>
      </p:nvGrpSpPr>
      <p:grpSpPr>
        <a:xfrm>
          <a:off x="0" y="0"/>
          <a:ext cx="0" cy="0"/>
          <a:chOff x="0" y="0"/>
          <a:chExt cx="0" cy="0"/>
        </a:xfrm>
      </p:grpSpPr>
      <p:sp>
        <p:nvSpPr>
          <p:cNvPr id="84" name="Google Shape;84;p12"/>
          <p:cNvSpPr txBox="1"/>
          <p:nvPr>
            <p:ph type="title"/>
          </p:nvPr>
        </p:nvSpPr>
        <p:spPr>
          <a:xfrm>
            <a:off x="841248" y="457200"/>
            <a:ext cx="320040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Schoolbook"/>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2"/>
          <p:cNvSpPr txBox="1"/>
          <p:nvPr>
            <p:ph idx="1" type="body"/>
          </p:nvPr>
        </p:nvSpPr>
        <p:spPr>
          <a:xfrm>
            <a:off x="4504267" y="685800"/>
            <a:ext cx="6079066" cy="5486400"/>
          </a:xfrm>
          <a:prstGeom prst="rect">
            <a:avLst/>
          </a:prstGeom>
          <a:noFill/>
          <a:ln>
            <a:noFill/>
          </a:ln>
        </p:spPr>
        <p:txBody>
          <a:bodyPr anchorCtr="0" anchor="t" bIns="45700" lIns="91425" spcFirstLastPara="1" rIns="91425" wrap="square" tIns="45700">
            <a:normAutofit/>
          </a:bodyPr>
          <a:lstStyle>
            <a:lvl1pPr indent="-330200" lvl="0" marL="457200" algn="l">
              <a:lnSpc>
                <a:spcPct val="95000"/>
              </a:lnSpc>
              <a:spcBef>
                <a:spcPts val="1400"/>
              </a:spcBef>
              <a:spcAft>
                <a:spcPts val="0"/>
              </a:spcAft>
              <a:buSzPts val="1600"/>
              <a:buChar char="•"/>
              <a:defRPr sz="2000"/>
            </a:lvl1pPr>
            <a:lvl2pPr indent="-342900" lvl="1" marL="914400" algn="l">
              <a:lnSpc>
                <a:spcPct val="90000"/>
              </a:lnSpc>
              <a:spcBef>
                <a:spcPts val="300"/>
              </a:spcBef>
              <a:spcAft>
                <a:spcPts val="0"/>
              </a:spcAft>
              <a:buSzPts val="1800"/>
              <a:buChar char="●"/>
              <a:defRPr sz="1800"/>
            </a:lvl2pPr>
            <a:lvl3pPr indent="-330200" lvl="2" marL="1371600" algn="l">
              <a:lnSpc>
                <a:spcPct val="90000"/>
              </a:lnSpc>
              <a:spcBef>
                <a:spcPts val="300"/>
              </a:spcBef>
              <a:spcAft>
                <a:spcPts val="0"/>
              </a:spcAft>
              <a:buSzPts val="1600"/>
              <a:buChar char="●"/>
              <a:defRPr sz="16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86" name="Google Shape;86;p12"/>
          <p:cNvSpPr txBox="1"/>
          <p:nvPr>
            <p:ph idx="2" type="body"/>
          </p:nvPr>
        </p:nvSpPr>
        <p:spPr>
          <a:xfrm>
            <a:off x="841248" y="2099734"/>
            <a:ext cx="320040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87" name="Google Shape;87;p12"/>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beelding met bijschrift" type="picTx">
  <p:cSld name="PICTURE_WITH_CAPTION_TEXT">
    <p:spTree>
      <p:nvGrpSpPr>
        <p:cNvPr id="90" name="Shape 90"/>
        <p:cNvGrpSpPr/>
        <p:nvPr/>
      </p:nvGrpSpPr>
      <p:grpSpPr>
        <a:xfrm>
          <a:off x="0" y="0"/>
          <a:ext cx="0" cy="0"/>
          <a:chOff x="0" y="0"/>
          <a:chExt cx="0" cy="0"/>
        </a:xfrm>
      </p:grpSpPr>
      <p:sp>
        <p:nvSpPr>
          <p:cNvPr id="91" name="Google Shape;91;p13"/>
          <p:cNvSpPr/>
          <p:nvPr/>
        </p:nvSpPr>
        <p:spPr>
          <a:xfrm>
            <a:off x="0" y="5105400"/>
            <a:ext cx="1129284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ph type="title"/>
          </p:nvPr>
        </p:nvSpPr>
        <p:spPr>
          <a:xfrm>
            <a:off x="914400" y="5257800"/>
            <a:ext cx="99822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3"/>
          <p:cNvSpPr/>
          <p:nvPr>
            <p:ph idx="2" type="pic"/>
          </p:nvPr>
        </p:nvSpPr>
        <p:spPr>
          <a:xfrm>
            <a:off x="0" y="0"/>
            <a:ext cx="11292840" cy="5128923"/>
          </a:xfrm>
          <a:prstGeom prst="rect">
            <a:avLst/>
          </a:prstGeom>
          <a:solidFill>
            <a:schemeClr val="accent1"/>
          </a:solidFill>
          <a:ln>
            <a:noFill/>
          </a:ln>
        </p:spPr>
      </p:sp>
      <p:sp>
        <p:nvSpPr>
          <p:cNvPr id="94" name="Google Shape;94;p13"/>
          <p:cNvSpPr txBox="1"/>
          <p:nvPr>
            <p:ph idx="1" type="body"/>
          </p:nvPr>
        </p:nvSpPr>
        <p:spPr>
          <a:xfrm>
            <a:off x="914400" y="6108589"/>
            <a:ext cx="9982200" cy="5970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95" name="Google Shape;95;p13"/>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3"/>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3"/>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verticale tekst" type="vertTx">
  <p:cSld name="VERTICAL_TEXT">
    <p:spTree>
      <p:nvGrpSpPr>
        <p:cNvPr id="98" name="Shape 98"/>
        <p:cNvGrpSpPr/>
        <p:nvPr/>
      </p:nvGrpSpPr>
      <p:grpSpPr>
        <a:xfrm>
          <a:off x="0" y="0"/>
          <a:ext cx="0" cy="0"/>
          <a:chOff x="0" y="0"/>
          <a:chExt cx="0" cy="0"/>
        </a:xfrm>
      </p:grpSpPr>
      <p:sp>
        <p:nvSpPr>
          <p:cNvPr id="99" name="Google Shape;99;p1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4"/>
          <p:cNvSpPr txBox="1"/>
          <p:nvPr>
            <p:ph idx="1" type="body"/>
          </p:nvPr>
        </p:nvSpPr>
        <p:spPr>
          <a:xfrm rot="5400000">
            <a:off x="3383884" y="-293212"/>
            <a:ext cx="4351337" cy="859536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01" name="Google Shape;101;p14"/>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4"/>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e titel en tekst" type="vertTitleAndTx">
  <p:cSld name="VERTICAL_TITLE_AND_VERTICAL_TEXT">
    <p:spTree>
      <p:nvGrpSpPr>
        <p:cNvPr id="104" name="Shape 104"/>
        <p:cNvGrpSpPr/>
        <p:nvPr/>
      </p:nvGrpSpPr>
      <p:grpSpPr>
        <a:xfrm>
          <a:off x="0" y="0"/>
          <a:ext cx="0" cy="0"/>
          <a:chOff x="0" y="0"/>
          <a:chExt cx="0" cy="0"/>
        </a:xfrm>
      </p:grpSpPr>
      <p:sp>
        <p:nvSpPr>
          <p:cNvPr id="105" name="Google Shape;105;p15"/>
          <p:cNvSpPr txBox="1"/>
          <p:nvPr>
            <p:ph type="title"/>
          </p:nvPr>
        </p:nvSpPr>
        <p:spPr>
          <a:xfrm rot="5400000">
            <a:off x="6938169" y="2091531"/>
            <a:ext cx="5897562" cy="2476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5"/>
          <p:cNvSpPr txBox="1"/>
          <p:nvPr>
            <p:ph idx="1" type="body"/>
          </p:nvPr>
        </p:nvSpPr>
        <p:spPr>
          <a:xfrm rot="5400000">
            <a:off x="1680369" y="-537369"/>
            <a:ext cx="5897562"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107" name="Google Shape;107;p15"/>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5"/>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nl-B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theme" Target="../theme/theme3.xml"/><Relationship Id="rId12" Type="http://schemas.openxmlformats.org/officeDocument/2006/relationships/slideLayout" Target="../slideLayouts/slideLayout13.xml"/><Relationship Id="rId1" Type="http://schemas.openxmlformats.org/officeDocument/2006/relationships/image" Target="../media/image48.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p:nvPr/>
        </p:nvSpPr>
        <p:spPr>
          <a:xfrm>
            <a:off x="11292840" y="0"/>
            <a:ext cx="914400" cy="6858000"/>
          </a:xfrm>
          <a:prstGeom prst="rect">
            <a:avLst/>
          </a:prstGeom>
          <a:solidFill>
            <a:srgbClr val="7EA9C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1" name="Google Shape;11;p1"/>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entury Schoolbook"/>
              <a:buNone/>
              <a:defRPr b="0" i="0" sz="44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13" name="Google Shape;13;p1"/>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sz="1050">
                <a:solidFill>
                  <a:srgbClr val="F4F7F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4" name="Google Shape;14;p1"/>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50">
                <a:solidFill>
                  <a:srgbClr val="F4F7F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5" name="Google Shape;15;p1"/>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marR="0" rtl="0" algn="ctr">
              <a:spcBef>
                <a:spcPts val="0"/>
              </a:spcBef>
              <a:buNone/>
              <a:defRPr b="0" sz="3600" u="none">
                <a:solidFill>
                  <a:srgbClr val="DFE9F1"/>
                </a:solidFill>
                <a:latin typeface="Century Schoolbook"/>
                <a:ea typeface="Century Schoolbook"/>
                <a:cs typeface="Century Schoolbook"/>
                <a:sym typeface="Century Schoolbook"/>
              </a:defRPr>
            </a:lvl1pPr>
            <a:lvl2pPr indent="0" lvl="1" marL="0" marR="0" rtl="0" algn="ctr">
              <a:spcBef>
                <a:spcPts val="0"/>
              </a:spcBef>
              <a:buNone/>
              <a:defRPr b="0" sz="3600" u="none">
                <a:solidFill>
                  <a:srgbClr val="DFE9F1"/>
                </a:solidFill>
                <a:latin typeface="Century Schoolbook"/>
                <a:ea typeface="Century Schoolbook"/>
                <a:cs typeface="Century Schoolbook"/>
                <a:sym typeface="Century Schoolbook"/>
              </a:defRPr>
            </a:lvl2pPr>
            <a:lvl3pPr indent="0" lvl="2" marL="0" marR="0" rtl="0" algn="ctr">
              <a:spcBef>
                <a:spcPts val="0"/>
              </a:spcBef>
              <a:buNone/>
              <a:defRPr b="0" sz="3600" u="none">
                <a:solidFill>
                  <a:srgbClr val="DFE9F1"/>
                </a:solidFill>
                <a:latin typeface="Century Schoolbook"/>
                <a:ea typeface="Century Schoolbook"/>
                <a:cs typeface="Century Schoolbook"/>
                <a:sym typeface="Century Schoolbook"/>
              </a:defRPr>
            </a:lvl3pPr>
            <a:lvl4pPr indent="0" lvl="3" marL="0" marR="0" rtl="0" algn="ctr">
              <a:spcBef>
                <a:spcPts val="0"/>
              </a:spcBef>
              <a:buNone/>
              <a:defRPr b="0" sz="3600" u="none">
                <a:solidFill>
                  <a:srgbClr val="DFE9F1"/>
                </a:solidFill>
                <a:latin typeface="Century Schoolbook"/>
                <a:ea typeface="Century Schoolbook"/>
                <a:cs typeface="Century Schoolbook"/>
                <a:sym typeface="Century Schoolbook"/>
              </a:defRPr>
            </a:lvl4pPr>
            <a:lvl5pPr indent="0" lvl="4" marL="0" marR="0" rtl="0" algn="ctr">
              <a:spcBef>
                <a:spcPts val="0"/>
              </a:spcBef>
              <a:buNone/>
              <a:defRPr b="0" sz="3600" u="none">
                <a:solidFill>
                  <a:srgbClr val="DFE9F1"/>
                </a:solidFill>
                <a:latin typeface="Century Schoolbook"/>
                <a:ea typeface="Century Schoolbook"/>
                <a:cs typeface="Century Schoolbook"/>
                <a:sym typeface="Century Schoolbook"/>
              </a:defRPr>
            </a:lvl5pPr>
            <a:lvl6pPr indent="0" lvl="5" marL="0" marR="0" rtl="0" algn="ctr">
              <a:spcBef>
                <a:spcPts val="0"/>
              </a:spcBef>
              <a:buNone/>
              <a:defRPr b="0" sz="3600" u="none">
                <a:solidFill>
                  <a:srgbClr val="DFE9F1"/>
                </a:solidFill>
                <a:latin typeface="Century Schoolbook"/>
                <a:ea typeface="Century Schoolbook"/>
                <a:cs typeface="Century Schoolbook"/>
                <a:sym typeface="Century Schoolbook"/>
              </a:defRPr>
            </a:lvl6pPr>
            <a:lvl7pPr indent="0" lvl="6" marL="0" marR="0" rtl="0" algn="ctr">
              <a:spcBef>
                <a:spcPts val="0"/>
              </a:spcBef>
              <a:buNone/>
              <a:defRPr b="0" sz="3600" u="none">
                <a:solidFill>
                  <a:srgbClr val="DFE9F1"/>
                </a:solidFill>
                <a:latin typeface="Century Schoolbook"/>
                <a:ea typeface="Century Schoolbook"/>
                <a:cs typeface="Century Schoolbook"/>
                <a:sym typeface="Century Schoolbook"/>
              </a:defRPr>
            </a:lvl7pPr>
            <a:lvl8pPr indent="0" lvl="7" marL="0" marR="0" rtl="0" algn="ctr">
              <a:spcBef>
                <a:spcPts val="0"/>
              </a:spcBef>
              <a:buNone/>
              <a:defRPr b="0" sz="3600" u="none">
                <a:solidFill>
                  <a:srgbClr val="DFE9F1"/>
                </a:solidFill>
                <a:latin typeface="Century Schoolbook"/>
                <a:ea typeface="Century Schoolbook"/>
                <a:cs typeface="Century Schoolbook"/>
                <a:sym typeface="Century Schoolbook"/>
              </a:defRPr>
            </a:lvl8pPr>
            <a:lvl9pPr indent="0" lvl="8" marL="0" marR="0" rtl="0" algn="ctr">
              <a:spcBef>
                <a:spcPts val="0"/>
              </a:spcBef>
              <a:buNone/>
              <a:defRPr b="0" sz="3600" u="none">
                <a:solidFill>
                  <a:srgbClr val="DFE9F1"/>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nl-BE"/>
              <a:t>‹#›</a:t>
            </a:fld>
            <a:endParaRPr/>
          </a:p>
        </p:txBody>
      </p:sp>
      <p:pic>
        <p:nvPicPr>
          <p:cNvPr descr="Afbeelding met Lettertype, Graphics, tekst, schermopname&#10;&#10;Door AI gegenereerde inhoud is mogelijk onjuist." id="16" name="Google Shape;16;p1"/>
          <p:cNvPicPr preferRelativeResize="0"/>
          <p:nvPr/>
        </p:nvPicPr>
        <p:blipFill rotWithShape="1">
          <a:blip r:embed="rId1">
            <a:alphaModFix/>
          </a:blip>
          <a:srcRect b="0" l="0" r="0" t="0"/>
          <a:stretch/>
        </p:blipFill>
        <p:spPr>
          <a:xfrm>
            <a:off x="10080273" y="5846602"/>
            <a:ext cx="1349886" cy="10801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 name="Shape 30"/>
        <p:cNvGrpSpPr/>
        <p:nvPr/>
      </p:nvGrpSpPr>
      <p:grpSpPr>
        <a:xfrm>
          <a:off x="0" y="0"/>
          <a:ext cx="0" cy="0"/>
          <a:chOff x="0" y="0"/>
          <a:chExt cx="0" cy="0"/>
        </a:xfrm>
      </p:grpSpPr>
      <p:sp>
        <p:nvSpPr>
          <p:cNvPr id="31" name="Google Shape;31;p4"/>
          <p:cNvSpPr/>
          <p:nvPr/>
        </p:nvSpPr>
        <p:spPr>
          <a:xfrm>
            <a:off x="11292840" y="0"/>
            <a:ext cx="914400" cy="6858000"/>
          </a:xfrm>
          <a:prstGeom prst="rect">
            <a:avLst/>
          </a:prstGeom>
          <a:solidFill>
            <a:srgbClr val="4A53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32" name="Google Shape;32;p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entury Schoolbook"/>
              <a:buNone/>
              <a:defRPr b="0" i="0" sz="44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4"/>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34" name="Google Shape;34;p4"/>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sz="1050">
                <a:solidFill>
                  <a:srgbClr val="DFE4D9"/>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35" name="Google Shape;35;p4"/>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50">
                <a:solidFill>
                  <a:srgbClr val="DFE4D9"/>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36" name="Google Shape;36;p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marR="0" rtl="0" algn="ctr">
              <a:spcBef>
                <a:spcPts val="0"/>
              </a:spcBef>
              <a:buNone/>
              <a:defRPr b="0" sz="3600" u="none">
                <a:solidFill>
                  <a:srgbClr val="A1AE91"/>
                </a:solidFill>
                <a:latin typeface="Century Schoolbook"/>
                <a:ea typeface="Century Schoolbook"/>
                <a:cs typeface="Century Schoolbook"/>
                <a:sym typeface="Century Schoolbook"/>
              </a:defRPr>
            </a:lvl1pPr>
            <a:lvl2pPr indent="0" lvl="1" marL="0" marR="0" rtl="0" algn="ctr">
              <a:spcBef>
                <a:spcPts val="0"/>
              </a:spcBef>
              <a:buNone/>
              <a:defRPr b="0" sz="3600" u="none">
                <a:solidFill>
                  <a:srgbClr val="A1AE91"/>
                </a:solidFill>
                <a:latin typeface="Century Schoolbook"/>
                <a:ea typeface="Century Schoolbook"/>
                <a:cs typeface="Century Schoolbook"/>
                <a:sym typeface="Century Schoolbook"/>
              </a:defRPr>
            </a:lvl2pPr>
            <a:lvl3pPr indent="0" lvl="2" marL="0" marR="0" rtl="0" algn="ctr">
              <a:spcBef>
                <a:spcPts val="0"/>
              </a:spcBef>
              <a:buNone/>
              <a:defRPr b="0" sz="3600" u="none">
                <a:solidFill>
                  <a:srgbClr val="A1AE91"/>
                </a:solidFill>
                <a:latin typeface="Century Schoolbook"/>
                <a:ea typeface="Century Schoolbook"/>
                <a:cs typeface="Century Schoolbook"/>
                <a:sym typeface="Century Schoolbook"/>
              </a:defRPr>
            </a:lvl3pPr>
            <a:lvl4pPr indent="0" lvl="3" marL="0" marR="0" rtl="0" algn="ctr">
              <a:spcBef>
                <a:spcPts val="0"/>
              </a:spcBef>
              <a:buNone/>
              <a:defRPr b="0" sz="3600" u="none">
                <a:solidFill>
                  <a:srgbClr val="A1AE91"/>
                </a:solidFill>
                <a:latin typeface="Century Schoolbook"/>
                <a:ea typeface="Century Schoolbook"/>
                <a:cs typeface="Century Schoolbook"/>
                <a:sym typeface="Century Schoolbook"/>
              </a:defRPr>
            </a:lvl4pPr>
            <a:lvl5pPr indent="0" lvl="4" marL="0" marR="0" rtl="0" algn="ctr">
              <a:spcBef>
                <a:spcPts val="0"/>
              </a:spcBef>
              <a:buNone/>
              <a:defRPr b="0" sz="3600" u="none">
                <a:solidFill>
                  <a:srgbClr val="A1AE91"/>
                </a:solidFill>
                <a:latin typeface="Century Schoolbook"/>
                <a:ea typeface="Century Schoolbook"/>
                <a:cs typeface="Century Schoolbook"/>
                <a:sym typeface="Century Schoolbook"/>
              </a:defRPr>
            </a:lvl5pPr>
            <a:lvl6pPr indent="0" lvl="5" marL="0" marR="0" rtl="0" algn="ctr">
              <a:spcBef>
                <a:spcPts val="0"/>
              </a:spcBef>
              <a:buNone/>
              <a:defRPr b="0" sz="3600" u="none">
                <a:solidFill>
                  <a:srgbClr val="A1AE91"/>
                </a:solidFill>
                <a:latin typeface="Century Schoolbook"/>
                <a:ea typeface="Century Schoolbook"/>
                <a:cs typeface="Century Schoolbook"/>
                <a:sym typeface="Century Schoolbook"/>
              </a:defRPr>
            </a:lvl6pPr>
            <a:lvl7pPr indent="0" lvl="6" marL="0" marR="0" rtl="0" algn="ctr">
              <a:spcBef>
                <a:spcPts val="0"/>
              </a:spcBef>
              <a:buNone/>
              <a:defRPr b="0" sz="3600" u="none">
                <a:solidFill>
                  <a:srgbClr val="A1AE91"/>
                </a:solidFill>
                <a:latin typeface="Century Schoolbook"/>
                <a:ea typeface="Century Schoolbook"/>
                <a:cs typeface="Century Schoolbook"/>
                <a:sym typeface="Century Schoolbook"/>
              </a:defRPr>
            </a:lvl7pPr>
            <a:lvl8pPr indent="0" lvl="7" marL="0" marR="0" rtl="0" algn="ctr">
              <a:spcBef>
                <a:spcPts val="0"/>
              </a:spcBef>
              <a:buNone/>
              <a:defRPr b="0" sz="3600" u="none">
                <a:solidFill>
                  <a:srgbClr val="A1AE91"/>
                </a:solidFill>
                <a:latin typeface="Century Schoolbook"/>
                <a:ea typeface="Century Schoolbook"/>
                <a:cs typeface="Century Schoolbook"/>
                <a:sym typeface="Century Schoolbook"/>
              </a:defRPr>
            </a:lvl8pPr>
            <a:lvl9pPr indent="0" lvl="8" marL="0" marR="0" rtl="0" algn="ctr">
              <a:spcBef>
                <a:spcPts val="0"/>
              </a:spcBef>
              <a:buNone/>
              <a:defRPr b="0" sz="3600" u="none">
                <a:solidFill>
                  <a:srgbClr val="A1AE91"/>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nl-BE"/>
              <a:t>‹#›</a:t>
            </a:fld>
            <a:endParaRPr/>
          </a:p>
        </p:txBody>
      </p:sp>
      <p:pic>
        <p:nvPicPr>
          <p:cNvPr descr="Afbeelding met Lettertype, Graphics, tekst, schermopname&#10;&#10;Door AI gegenereerde inhoud is mogelijk onjuist." id="37" name="Google Shape;37;p4"/>
          <p:cNvPicPr preferRelativeResize="0"/>
          <p:nvPr/>
        </p:nvPicPr>
        <p:blipFill rotWithShape="1">
          <a:blip r:embed="rId1">
            <a:alphaModFix/>
          </a:blip>
          <a:srcRect b="0" l="0" r="0" t="0"/>
          <a:stretch/>
        </p:blipFill>
        <p:spPr>
          <a:xfrm>
            <a:off x="10080273" y="5846602"/>
            <a:ext cx="1349886" cy="108013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4.png"/><Relationship Id="rId4" Type="http://schemas.openxmlformats.org/officeDocument/2006/relationships/image" Target="../media/image39.png"/><Relationship Id="rId5" Type="http://schemas.openxmlformats.org/officeDocument/2006/relationships/image" Target="../media/image2.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40.png"/><Relationship Id="rId5" Type="http://schemas.openxmlformats.org/officeDocument/2006/relationships/image" Target="../media/image11.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5.png"/><Relationship Id="rId4" Type="http://schemas.openxmlformats.org/officeDocument/2006/relationships/image" Target="../media/image18.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21.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41.png"/><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15.png"/><Relationship Id="rId9"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17.png"/><Relationship Id="rId7" Type="http://schemas.openxmlformats.org/officeDocument/2006/relationships/image" Target="../media/image35.png"/><Relationship Id="rId8"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30.png"/><Relationship Id="rId5"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7200"/>
              <a:buFont typeface="Century Schoolbook"/>
              <a:buNone/>
            </a:pPr>
            <a:r>
              <a:rPr lang="nl-BE"/>
              <a:t>Reservatiesysteem - Colruyt</a:t>
            </a:r>
            <a:endParaRPr/>
          </a:p>
        </p:txBody>
      </p:sp>
      <p:sp>
        <p:nvSpPr>
          <p:cNvPr id="116" name="Google Shape;116;p16"/>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1760"/>
              <a:buNone/>
            </a:pPr>
            <a:r>
              <a:rPr lang="nl-BE"/>
              <a:t>Bram Caeyman, Seppe Goossens, Thibaut Nottebaere, Thijs Vanneste, Bernard Neirynck</a:t>
            </a:r>
            <a:endParaRPr/>
          </a:p>
        </p:txBody>
      </p:sp>
      <p:pic>
        <p:nvPicPr>
          <p:cNvPr id="117" name="Google Shape;117;p16"/>
          <p:cNvPicPr preferRelativeResize="0"/>
          <p:nvPr/>
        </p:nvPicPr>
        <p:blipFill rotWithShape="1">
          <a:blip r:embed="rId3">
            <a:alphaModFix/>
          </a:blip>
          <a:srcRect b="0" l="0" r="0" t="0"/>
          <a:stretch/>
        </p:blipFill>
        <p:spPr>
          <a:xfrm>
            <a:off x="3031065" y="865717"/>
            <a:ext cx="5394475" cy="165205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Inhoud</a:t>
            </a:r>
            <a:endParaRPr/>
          </a:p>
        </p:txBody>
      </p:sp>
      <p:sp>
        <p:nvSpPr>
          <p:cNvPr id="123" name="Google Shape;123;p17"/>
          <p:cNvSpPr txBox="1"/>
          <p:nvPr>
            <p:ph idx="1" type="body"/>
          </p:nvPr>
        </p:nvSpPr>
        <p:spPr>
          <a:xfrm>
            <a:off x="1261875" y="1682250"/>
            <a:ext cx="3066000" cy="4407900"/>
          </a:xfrm>
          <a:prstGeom prst="rect">
            <a:avLst/>
          </a:prstGeom>
          <a:noFill/>
          <a:ln>
            <a:noFill/>
          </a:ln>
        </p:spPr>
        <p:txBody>
          <a:bodyPr anchorCtr="0" anchor="ctr" bIns="45700" lIns="91425" spcFirstLastPara="1" rIns="91425" wrap="square" tIns="45700">
            <a:normAutofit fontScale="85000" lnSpcReduction="20000"/>
          </a:bodyPr>
          <a:lstStyle/>
          <a:p>
            <a:pPr indent="-98298" lvl="0" marL="182880" rtl="0" algn="l">
              <a:lnSpc>
                <a:spcPct val="95000"/>
              </a:lnSpc>
              <a:spcBef>
                <a:spcPts val="0"/>
              </a:spcBef>
              <a:spcAft>
                <a:spcPts val="0"/>
              </a:spcAft>
              <a:buSzPct val="68382"/>
              <a:buNone/>
            </a:pPr>
            <a:r>
              <a:t/>
            </a:r>
            <a:endParaRPr sz="2105"/>
          </a:p>
          <a:p>
            <a:pPr indent="-192528" lvl="0" marL="182880" rtl="0" algn="l">
              <a:lnSpc>
                <a:spcPct val="95000"/>
              </a:lnSpc>
              <a:spcBef>
                <a:spcPts val="1600"/>
              </a:spcBef>
              <a:spcAft>
                <a:spcPts val="0"/>
              </a:spcAft>
              <a:buSzPct val="82904"/>
              <a:buChar char="•"/>
            </a:pPr>
            <a:r>
              <a:rPr lang="nl-BE" sz="2105"/>
              <a:t>Probleem en doel</a:t>
            </a:r>
            <a:endParaRPr sz="2105"/>
          </a:p>
          <a:p>
            <a:pPr indent="-192528" lvl="0" marL="182880" rtl="0" algn="l">
              <a:lnSpc>
                <a:spcPct val="95000"/>
              </a:lnSpc>
              <a:spcBef>
                <a:spcPts val="1600"/>
              </a:spcBef>
              <a:spcAft>
                <a:spcPts val="0"/>
              </a:spcAft>
              <a:buSzPct val="82904"/>
              <a:buChar char="•"/>
            </a:pPr>
            <a:r>
              <a:rPr lang="nl-BE" sz="2105"/>
              <a:t>Onze opdracht</a:t>
            </a:r>
            <a:endParaRPr sz="2105"/>
          </a:p>
          <a:p>
            <a:pPr indent="-192528" lvl="0" marL="182880" rtl="0" algn="l">
              <a:lnSpc>
                <a:spcPct val="95000"/>
              </a:lnSpc>
              <a:spcBef>
                <a:spcPts val="1600"/>
              </a:spcBef>
              <a:spcAft>
                <a:spcPts val="0"/>
              </a:spcAft>
              <a:buSzPct val="82904"/>
              <a:buChar char="•"/>
            </a:pPr>
            <a:r>
              <a:rPr lang="nl-BE" sz="2105"/>
              <a:t>Functionaliteiten</a:t>
            </a:r>
            <a:endParaRPr sz="2105"/>
          </a:p>
          <a:p>
            <a:pPr indent="-211959" lvl="0" marL="182880" rtl="0" algn="l">
              <a:lnSpc>
                <a:spcPct val="95000"/>
              </a:lnSpc>
              <a:spcBef>
                <a:spcPts val="1600"/>
              </a:spcBef>
              <a:spcAft>
                <a:spcPts val="0"/>
              </a:spcAft>
              <a:buSzPct val="100000"/>
              <a:buChar char="•"/>
            </a:pPr>
            <a:r>
              <a:rPr lang="nl-BE" sz="2105"/>
              <a:t>Kanban board</a:t>
            </a:r>
            <a:endParaRPr sz="2105"/>
          </a:p>
          <a:p>
            <a:pPr indent="-192528" lvl="0" marL="182880" rtl="0" algn="l">
              <a:lnSpc>
                <a:spcPct val="95000"/>
              </a:lnSpc>
              <a:spcBef>
                <a:spcPts val="1600"/>
              </a:spcBef>
              <a:spcAft>
                <a:spcPts val="0"/>
              </a:spcAft>
              <a:buSzPct val="82904"/>
              <a:buChar char="•"/>
            </a:pPr>
            <a:r>
              <a:rPr lang="nl-BE" sz="2105"/>
              <a:t>ERD model</a:t>
            </a:r>
            <a:endParaRPr sz="2105"/>
          </a:p>
          <a:p>
            <a:pPr indent="-192528" lvl="0" marL="182880" rtl="0" algn="l">
              <a:lnSpc>
                <a:spcPct val="95000"/>
              </a:lnSpc>
              <a:spcBef>
                <a:spcPts val="1600"/>
              </a:spcBef>
              <a:spcAft>
                <a:spcPts val="0"/>
              </a:spcAft>
              <a:buSzPct val="82904"/>
              <a:buChar char="•"/>
            </a:pPr>
            <a:r>
              <a:rPr lang="nl-BE" sz="2105"/>
              <a:t>Gebruikte tools</a:t>
            </a:r>
            <a:endParaRPr sz="2105"/>
          </a:p>
          <a:p>
            <a:pPr indent="-211959" lvl="0" marL="182880" rtl="0" algn="l">
              <a:lnSpc>
                <a:spcPct val="95000"/>
              </a:lnSpc>
              <a:spcBef>
                <a:spcPts val="1600"/>
              </a:spcBef>
              <a:spcAft>
                <a:spcPts val="0"/>
              </a:spcAft>
              <a:buSzPct val="100000"/>
              <a:buChar char="•"/>
            </a:pPr>
            <a:r>
              <a:rPr lang="nl-BE" sz="2105"/>
              <a:t>UI prototype &lt;-&gt; nu</a:t>
            </a:r>
            <a:endParaRPr sz="2105"/>
          </a:p>
          <a:p>
            <a:pPr indent="-98298" lvl="0" marL="182880" rtl="0" algn="l">
              <a:lnSpc>
                <a:spcPct val="95000"/>
              </a:lnSpc>
              <a:spcBef>
                <a:spcPts val="1600"/>
              </a:spcBef>
              <a:spcAft>
                <a:spcPts val="0"/>
              </a:spcAft>
              <a:buSzPct val="79999"/>
              <a:buNone/>
            </a:pPr>
            <a:r>
              <a:t/>
            </a:r>
            <a:endParaRPr/>
          </a:p>
          <a:p>
            <a:pPr indent="-98298" lvl="0" marL="182880" rtl="0" algn="l">
              <a:lnSpc>
                <a:spcPct val="95000"/>
              </a:lnSpc>
              <a:spcBef>
                <a:spcPts val="1600"/>
              </a:spcBef>
              <a:spcAft>
                <a:spcPts val="0"/>
              </a:spcAft>
              <a:buSzPct val="79999"/>
              <a:buNone/>
            </a:pPr>
            <a:r>
              <a:t/>
            </a:r>
            <a:endParaRPr/>
          </a:p>
          <a:p>
            <a:pPr indent="-98298" lvl="0" marL="182880" rtl="0" algn="l">
              <a:lnSpc>
                <a:spcPct val="95000"/>
              </a:lnSpc>
              <a:spcBef>
                <a:spcPts val="1600"/>
              </a:spcBef>
              <a:spcAft>
                <a:spcPts val="0"/>
              </a:spcAft>
              <a:buSzPct val="79999"/>
              <a:buNone/>
            </a:pPr>
            <a:r>
              <a:t/>
            </a:r>
            <a:endParaRPr/>
          </a:p>
        </p:txBody>
      </p:sp>
      <p:sp>
        <p:nvSpPr>
          <p:cNvPr descr="Inventory Icon PNG, Vector, PSD, and Clipart With Transparent Background  for Free Download | Pngtree" id="124" name="Google Shape;124;p17"/>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descr="Inventory Icon PNG, Vector, PSD, and Clipart With Transparent Background  for Free Download | Pngtree" id="125" name="Google Shape;125;p17"/>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descr="Inventory Icon PNG, Vector, PSD, and Clipart With Transparent Background  for Free Download | Pngtree" id="126" name="Google Shape;126;p17"/>
          <p:cNvSpPr/>
          <p:nvPr/>
        </p:nvSpPr>
        <p:spPr>
          <a:xfrm>
            <a:off x="6248400" y="35814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descr="Inventory Icon PNG, Vector, PSD, and Clipart With Transparent Background  for Free Download | Pngtree" id="127" name="Google Shape;127;p17"/>
          <p:cNvSpPr/>
          <p:nvPr/>
        </p:nvSpPr>
        <p:spPr>
          <a:xfrm>
            <a:off x="6400800" y="37338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128" name="Google Shape;128;p17"/>
          <p:cNvSpPr txBox="1"/>
          <p:nvPr/>
        </p:nvSpPr>
        <p:spPr>
          <a:xfrm>
            <a:off x="5415525" y="1965300"/>
            <a:ext cx="3372600" cy="3537000"/>
          </a:xfrm>
          <a:prstGeom prst="rect">
            <a:avLst/>
          </a:prstGeom>
          <a:noFill/>
          <a:ln>
            <a:noFill/>
          </a:ln>
        </p:spPr>
        <p:txBody>
          <a:bodyPr anchorCtr="0" anchor="ctr" bIns="91425" lIns="91425" spcFirstLastPara="1" rIns="91425" wrap="square" tIns="91425">
            <a:noAutofit/>
          </a:bodyPr>
          <a:lstStyle/>
          <a:p>
            <a:pPr indent="-231648" lvl="0" marL="182880" rtl="0" algn="l">
              <a:lnSpc>
                <a:spcPct val="95000"/>
              </a:lnSpc>
              <a:spcBef>
                <a:spcPts val="1600"/>
              </a:spcBef>
              <a:spcAft>
                <a:spcPts val="0"/>
              </a:spcAft>
              <a:buClr>
                <a:schemeClr val="accent1"/>
              </a:buClr>
              <a:buSzPts val="2100"/>
              <a:buChar char="•"/>
            </a:pPr>
            <a:r>
              <a:rPr lang="nl-BE" sz="2100">
                <a:solidFill>
                  <a:schemeClr val="dk1"/>
                </a:solidFill>
                <a:latin typeface="Century Schoolbook"/>
                <a:ea typeface="Century Schoolbook"/>
                <a:cs typeface="Century Schoolbook"/>
                <a:sym typeface="Century Schoolbook"/>
              </a:rPr>
              <a:t>Complex algoritme</a:t>
            </a:r>
            <a:endParaRPr sz="2100">
              <a:solidFill>
                <a:schemeClr val="dk1"/>
              </a:solidFill>
              <a:latin typeface="Century Schoolbook"/>
              <a:ea typeface="Century Schoolbook"/>
              <a:cs typeface="Century Schoolbook"/>
              <a:sym typeface="Century Schoolbook"/>
            </a:endParaRPr>
          </a:p>
          <a:p>
            <a:pPr indent="-231648" lvl="0" marL="182880" rtl="0" algn="l">
              <a:lnSpc>
                <a:spcPct val="95000"/>
              </a:lnSpc>
              <a:spcBef>
                <a:spcPts val="1600"/>
              </a:spcBef>
              <a:spcAft>
                <a:spcPts val="0"/>
              </a:spcAft>
              <a:buClr>
                <a:schemeClr val="accent1"/>
              </a:buClr>
              <a:buSzPts val="2100"/>
              <a:buChar char="•"/>
            </a:pPr>
            <a:r>
              <a:rPr lang="nl-BE" sz="2100">
                <a:solidFill>
                  <a:schemeClr val="dk1"/>
                </a:solidFill>
                <a:latin typeface="Century Schoolbook"/>
                <a:ea typeface="Century Schoolbook"/>
                <a:cs typeface="Century Schoolbook"/>
                <a:sym typeface="Century Schoolbook"/>
              </a:rPr>
              <a:t>Verdachte reservaties</a:t>
            </a:r>
            <a:endParaRPr sz="2100">
              <a:solidFill>
                <a:schemeClr val="dk1"/>
              </a:solidFill>
              <a:latin typeface="Century Schoolbook"/>
              <a:ea typeface="Century Schoolbook"/>
              <a:cs typeface="Century Schoolbook"/>
              <a:sym typeface="Century Schoolbook"/>
            </a:endParaRPr>
          </a:p>
          <a:p>
            <a:pPr indent="-231648" lvl="0" marL="182880" rtl="0" algn="l">
              <a:lnSpc>
                <a:spcPct val="95000"/>
              </a:lnSpc>
              <a:spcBef>
                <a:spcPts val="1600"/>
              </a:spcBef>
              <a:spcAft>
                <a:spcPts val="0"/>
              </a:spcAft>
              <a:buClr>
                <a:schemeClr val="accent1"/>
              </a:buClr>
              <a:buSzPts val="2100"/>
              <a:buChar char="•"/>
            </a:pPr>
            <a:r>
              <a:rPr lang="nl-BE" sz="2100">
                <a:solidFill>
                  <a:schemeClr val="dk1"/>
                </a:solidFill>
                <a:latin typeface="Century Schoolbook"/>
                <a:ea typeface="Century Schoolbook"/>
                <a:cs typeface="Century Schoolbook"/>
                <a:sym typeface="Century Schoolbook"/>
              </a:rPr>
              <a:t>Database</a:t>
            </a:r>
            <a:endParaRPr sz="2100">
              <a:solidFill>
                <a:schemeClr val="dk1"/>
              </a:solidFill>
              <a:latin typeface="Century Schoolbook"/>
              <a:ea typeface="Century Schoolbook"/>
              <a:cs typeface="Century Schoolbook"/>
              <a:sym typeface="Century Schoolbook"/>
            </a:endParaRPr>
          </a:p>
          <a:p>
            <a:pPr indent="-231648" lvl="0" marL="182880" rtl="0" algn="l">
              <a:lnSpc>
                <a:spcPct val="95000"/>
              </a:lnSpc>
              <a:spcBef>
                <a:spcPts val="1600"/>
              </a:spcBef>
              <a:spcAft>
                <a:spcPts val="0"/>
              </a:spcAft>
              <a:buClr>
                <a:schemeClr val="accent1"/>
              </a:buClr>
              <a:buSzPts val="2100"/>
              <a:buChar char="•"/>
            </a:pPr>
            <a:r>
              <a:rPr lang="nl-BE" sz="2100">
                <a:solidFill>
                  <a:schemeClr val="dk1"/>
                </a:solidFill>
                <a:latin typeface="Century Schoolbook"/>
                <a:ea typeface="Century Schoolbook"/>
                <a:cs typeface="Century Schoolbook"/>
                <a:sym typeface="Century Schoolbook"/>
              </a:rPr>
              <a:t>Schaalbaarheid </a:t>
            </a:r>
            <a:endParaRPr sz="2100">
              <a:solidFill>
                <a:schemeClr val="dk1"/>
              </a:solidFill>
              <a:latin typeface="Century Schoolbook"/>
              <a:ea typeface="Century Schoolbook"/>
              <a:cs typeface="Century Schoolbook"/>
              <a:sym typeface="Century Schoolbook"/>
            </a:endParaRPr>
          </a:p>
          <a:p>
            <a:pPr indent="-224790" lvl="0" marL="182880" rtl="0" algn="l">
              <a:lnSpc>
                <a:spcPct val="95000"/>
              </a:lnSpc>
              <a:spcBef>
                <a:spcPts val="1600"/>
              </a:spcBef>
              <a:spcAft>
                <a:spcPts val="0"/>
              </a:spcAft>
              <a:buClr>
                <a:schemeClr val="accent1"/>
              </a:buClr>
              <a:buSzPts val="2100"/>
              <a:buChar char="•"/>
            </a:pPr>
            <a:r>
              <a:rPr lang="nl-BE" sz="2100">
                <a:solidFill>
                  <a:schemeClr val="dk1"/>
                </a:solidFill>
                <a:latin typeface="Century Schoolbook"/>
                <a:ea typeface="Century Schoolbook"/>
                <a:cs typeface="Century Schoolbook"/>
                <a:sym typeface="Century Schoolbook"/>
              </a:rPr>
              <a:t>Conflicten die zijn opgelost</a:t>
            </a:r>
            <a:endParaRPr sz="2100">
              <a:solidFill>
                <a:schemeClr val="dk1"/>
              </a:solidFill>
              <a:latin typeface="Century Schoolbook"/>
              <a:ea typeface="Century Schoolbook"/>
              <a:cs typeface="Century Schoolbook"/>
              <a:sym typeface="Century Schoolbook"/>
            </a:endParaRPr>
          </a:p>
          <a:p>
            <a:pPr indent="-231648" lvl="0" marL="182880" rtl="0" algn="l">
              <a:lnSpc>
                <a:spcPct val="95000"/>
              </a:lnSpc>
              <a:spcBef>
                <a:spcPts val="1600"/>
              </a:spcBef>
              <a:spcAft>
                <a:spcPts val="0"/>
              </a:spcAft>
              <a:buClr>
                <a:schemeClr val="accent1"/>
              </a:buClr>
              <a:buSzPts val="2100"/>
              <a:buChar char="•"/>
            </a:pPr>
            <a:r>
              <a:rPr lang="nl-BE" sz="2100">
                <a:solidFill>
                  <a:schemeClr val="dk1"/>
                </a:solidFill>
                <a:latin typeface="Century Schoolbook"/>
                <a:ea typeface="Century Schoolbook"/>
                <a:cs typeface="Century Schoolbook"/>
                <a:sym typeface="Century Schoolbook"/>
              </a:rPr>
              <a:t>Conclusie</a:t>
            </a:r>
            <a:endParaRPr sz="2100">
              <a:solidFill>
                <a:schemeClr val="dk1"/>
              </a:solidFill>
              <a:latin typeface="Century Schoolbook"/>
              <a:ea typeface="Century Schoolbook"/>
              <a:cs typeface="Century Schoolbook"/>
              <a:sym typeface="Century Schoolbook"/>
            </a:endParaRPr>
          </a:p>
          <a:p>
            <a:pPr indent="0" lvl="0" marL="0" rtl="0" algn="l">
              <a:spcBef>
                <a:spcPts val="0"/>
              </a:spcBef>
              <a:spcAft>
                <a:spcPts val="0"/>
              </a:spcAft>
              <a:buNone/>
            </a:pPr>
            <a:r>
              <a:t/>
            </a:r>
            <a:endParaRPr sz="21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18"/>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Probleem en doel</a:t>
            </a:r>
            <a:endParaRPr/>
          </a:p>
        </p:txBody>
      </p:sp>
      <p:sp>
        <p:nvSpPr>
          <p:cNvPr id="134" name="Google Shape;134;p18"/>
          <p:cNvSpPr txBox="1"/>
          <p:nvPr>
            <p:ph idx="1" type="body"/>
          </p:nvPr>
        </p:nvSpPr>
        <p:spPr>
          <a:xfrm>
            <a:off x="1261872" y="1933575"/>
            <a:ext cx="4401509" cy="4246562"/>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440"/>
              <a:buChar char="•"/>
            </a:pPr>
            <a:r>
              <a:rPr lang="nl-BE"/>
              <a:t>Colruyt -&gt; veel kantoren</a:t>
            </a:r>
            <a:endParaRPr/>
          </a:p>
          <a:p>
            <a:pPr indent="-182880" lvl="0" marL="182880" rtl="0" algn="l">
              <a:lnSpc>
                <a:spcPct val="95000"/>
              </a:lnSpc>
              <a:spcBef>
                <a:spcPts val="1600"/>
              </a:spcBef>
              <a:spcAft>
                <a:spcPts val="0"/>
              </a:spcAft>
              <a:buSzPts val="1440"/>
              <a:buChar char="•"/>
            </a:pPr>
            <a:r>
              <a:rPr lang="nl-BE"/>
              <a:t>Hybride bureaus</a:t>
            </a:r>
            <a:endParaRPr/>
          </a:p>
          <a:p>
            <a:pPr indent="-182880" lvl="0" marL="182880" rtl="0" algn="l">
              <a:lnSpc>
                <a:spcPct val="95000"/>
              </a:lnSpc>
              <a:spcBef>
                <a:spcPts val="1600"/>
              </a:spcBef>
              <a:spcAft>
                <a:spcPts val="0"/>
              </a:spcAft>
              <a:buSzPts val="1440"/>
              <a:buChar char="•"/>
            </a:pPr>
            <a:r>
              <a:rPr lang="nl-BE"/>
              <a:t>Geen overzicht</a:t>
            </a:r>
            <a:endParaRPr/>
          </a:p>
          <a:p>
            <a:pPr indent="-182880" lvl="0" marL="182880" rtl="0" algn="l">
              <a:lnSpc>
                <a:spcPct val="95000"/>
              </a:lnSpc>
              <a:spcBef>
                <a:spcPts val="1600"/>
              </a:spcBef>
              <a:spcAft>
                <a:spcPts val="0"/>
              </a:spcAft>
              <a:buSzPts val="1440"/>
              <a:buChar char="•"/>
            </a:pPr>
            <a:r>
              <a:rPr lang="nl-BE"/>
              <a:t>Doelgroep: werknemers + admin tools</a:t>
            </a:r>
            <a:endParaRPr/>
          </a:p>
          <a:p>
            <a:pPr indent="-182880" lvl="0" marL="182880" rtl="0" algn="l">
              <a:lnSpc>
                <a:spcPct val="95000"/>
              </a:lnSpc>
              <a:spcBef>
                <a:spcPts val="1600"/>
              </a:spcBef>
              <a:spcAft>
                <a:spcPts val="0"/>
              </a:spcAft>
              <a:buSzPts val="1440"/>
              <a:buChar char="•"/>
            </a:pPr>
            <a:r>
              <a:rPr lang="nl-BE"/>
              <a:t>Doel van project: overzichtelijk reservatiesysteem voor bureaus</a:t>
            </a:r>
            <a:endParaRPr/>
          </a:p>
          <a:p>
            <a:pPr indent="-182880" lvl="0" marL="182880" rtl="0" algn="l">
              <a:lnSpc>
                <a:spcPct val="95000"/>
              </a:lnSpc>
              <a:spcBef>
                <a:spcPts val="1600"/>
              </a:spcBef>
              <a:spcAft>
                <a:spcPts val="0"/>
              </a:spcAft>
              <a:buSzPts val="1440"/>
              <a:buChar char="•"/>
            </a:pPr>
            <a:r>
              <a:rPr lang="nl-BE"/>
              <a:t>Compatibel op zowel pc als gsm</a:t>
            </a:r>
            <a:endParaRPr/>
          </a:p>
        </p:txBody>
      </p:sp>
      <p:pic>
        <p:nvPicPr>
          <p:cNvPr descr="Afbeelding met tekst, logo, schermopname, grafische vormgeving&#10;&#10;Door AI gegenereerde inhoud is mogelijk onjuist." id="135" name="Google Shape;135;p18"/>
          <p:cNvPicPr preferRelativeResize="0"/>
          <p:nvPr/>
        </p:nvPicPr>
        <p:blipFill rotWithShape="1">
          <a:blip r:embed="rId3">
            <a:alphaModFix/>
          </a:blip>
          <a:srcRect b="0" l="0" r="0" t="0"/>
          <a:stretch/>
        </p:blipFill>
        <p:spPr>
          <a:xfrm>
            <a:off x="6095999" y="2431507"/>
            <a:ext cx="4807287" cy="26440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19"/>
          <p:cNvSpPr txBox="1"/>
          <p:nvPr>
            <p:ph type="title"/>
          </p:nvPr>
        </p:nvSpPr>
        <p:spPr>
          <a:xfrm>
            <a:off x="718874" y="677863"/>
            <a:ext cx="4534047"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Onze opdracht</a:t>
            </a:r>
            <a:endParaRPr/>
          </a:p>
        </p:txBody>
      </p:sp>
      <p:sp>
        <p:nvSpPr>
          <p:cNvPr id="141" name="Google Shape;141;p19"/>
          <p:cNvSpPr txBox="1"/>
          <p:nvPr>
            <p:ph idx="1" type="body"/>
          </p:nvPr>
        </p:nvSpPr>
        <p:spPr>
          <a:xfrm>
            <a:off x="718874" y="2325158"/>
            <a:ext cx="4534048" cy="3854979"/>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440"/>
              <a:buChar char="•"/>
            </a:pPr>
            <a:r>
              <a:rPr lang="nl-BE"/>
              <a:t>Ontwikkel een webgebaseerde MVP</a:t>
            </a:r>
            <a:endParaRPr/>
          </a:p>
          <a:p>
            <a:pPr indent="-182880" lvl="0" marL="182880" rtl="0" algn="l">
              <a:lnSpc>
                <a:spcPct val="95000"/>
              </a:lnSpc>
              <a:spcBef>
                <a:spcPts val="1600"/>
              </a:spcBef>
              <a:spcAft>
                <a:spcPts val="0"/>
              </a:spcAft>
              <a:buSzPts val="1440"/>
              <a:buChar char="•"/>
            </a:pPr>
            <a:r>
              <a:rPr lang="nl-BE"/>
              <a:t>Focus op kernfunctionaliteiten</a:t>
            </a:r>
            <a:endParaRPr/>
          </a:p>
          <a:p>
            <a:pPr indent="-182880" lvl="0" marL="182880" rtl="0" algn="l">
              <a:lnSpc>
                <a:spcPct val="95000"/>
              </a:lnSpc>
              <a:spcBef>
                <a:spcPts val="1600"/>
              </a:spcBef>
              <a:spcAft>
                <a:spcPts val="0"/>
              </a:spcAft>
              <a:buSzPts val="1440"/>
              <a:buChar char="•"/>
            </a:pPr>
            <a:r>
              <a:rPr lang="nl-BE"/>
              <a:t>Werk samen met externe partner </a:t>
            </a:r>
            <a:endParaRPr/>
          </a:p>
          <a:p>
            <a:pPr indent="-182880" lvl="0" marL="182880" rtl="0" algn="l">
              <a:lnSpc>
                <a:spcPct val="95000"/>
              </a:lnSpc>
              <a:spcBef>
                <a:spcPts val="1600"/>
              </a:spcBef>
              <a:spcAft>
                <a:spcPts val="0"/>
              </a:spcAft>
              <a:buSzPts val="1440"/>
              <a:buChar char="•"/>
            </a:pPr>
            <a:r>
              <a:rPr lang="nl-BE"/>
              <a:t>Gebruik Agile en meerdere sprints </a:t>
            </a:r>
            <a:endParaRPr/>
          </a:p>
          <a:p>
            <a:pPr indent="-182880" lvl="0" marL="182880" rtl="0" algn="l">
              <a:lnSpc>
                <a:spcPct val="95000"/>
              </a:lnSpc>
              <a:spcBef>
                <a:spcPts val="1600"/>
              </a:spcBef>
              <a:spcAft>
                <a:spcPts val="0"/>
              </a:spcAft>
              <a:buSzPts val="1440"/>
              <a:buChar char="•"/>
            </a:pPr>
            <a:r>
              <a:rPr lang="nl-BE"/>
              <a:t>Presenteer voortgang en verzamel feedback </a:t>
            </a:r>
            <a:endParaRPr/>
          </a:p>
          <a:p>
            <a:pPr indent="-182880" lvl="0" marL="182880" rtl="0" algn="l">
              <a:lnSpc>
                <a:spcPct val="95000"/>
              </a:lnSpc>
              <a:spcBef>
                <a:spcPts val="1600"/>
              </a:spcBef>
              <a:spcAft>
                <a:spcPts val="0"/>
              </a:spcAft>
              <a:buSzPts val="1440"/>
              <a:buChar char="•"/>
            </a:pPr>
            <a:r>
              <a:rPr lang="nl-BE"/>
              <a:t>Bouw functionele, schaalbare, gevalideerde MVP</a:t>
            </a:r>
            <a:endParaRPr/>
          </a:p>
        </p:txBody>
      </p:sp>
      <p:pic>
        <p:nvPicPr>
          <p:cNvPr descr="Head with Gears" id="142" name="Google Shape;142;p19"/>
          <p:cNvPicPr preferRelativeResize="0"/>
          <p:nvPr/>
        </p:nvPicPr>
        <p:blipFill rotWithShape="1">
          <a:blip r:embed="rId3">
            <a:alphaModFix/>
          </a:blip>
          <a:srcRect b="0" l="0" r="0" t="0"/>
          <a:stretch/>
        </p:blipFill>
        <p:spPr>
          <a:xfrm>
            <a:off x="5633157" y="824005"/>
            <a:ext cx="5209989" cy="520998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p20"/>
          <p:cNvSpPr txBox="1"/>
          <p:nvPr>
            <p:ph type="title"/>
          </p:nvPr>
        </p:nvSpPr>
        <p:spPr>
          <a:xfrm>
            <a:off x="6420464" y="539087"/>
            <a:ext cx="4534047" cy="158489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entury Schoolbook"/>
              <a:buNone/>
            </a:pPr>
            <a:r>
              <a:rPr lang="nl-BE" sz="4100"/>
              <a:t>Functionaliteiten</a:t>
            </a:r>
            <a:endParaRPr/>
          </a:p>
        </p:txBody>
      </p:sp>
      <p:pic>
        <p:nvPicPr>
          <p:cNvPr descr="Website Design vs. Website Development: What's the Difference?" id="149" name="Google Shape;149;p20"/>
          <p:cNvPicPr preferRelativeResize="0"/>
          <p:nvPr/>
        </p:nvPicPr>
        <p:blipFill rotWithShape="1">
          <a:blip r:embed="rId3">
            <a:alphaModFix/>
          </a:blip>
          <a:srcRect b="0" l="37788" r="15553" t="0"/>
          <a:stretch/>
        </p:blipFill>
        <p:spPr>
          <a:xfrm>
            <a:off x="20" y="10"/>
            <a:ext cx="6094799" cy="6857990"/>
          </a:xfrm>
          <a:prstGeom prst="rect">
            <a:avLst/>
          </a:prstGeom>
          <a:noFill/>
          <a:ln>
            <a:noFill/>
          </a:ln>
        </p:spPr>
      </p:pic>
      <p:sp>
        <p:nvSpPr>
          <p:cNvPr id="150" name="Google Shape;150;p20"/>
          <p:cNvSpPr txBox="1"/>
          <p:nvPr>
            <p:ph idx="1" type="body"/>
          </p:nvPr>
        </p:nvSpPr>
        <p:spPr>
          <a:xfrm>
            <a:off x="6420463" y="2438399"/>
            <a:ext cx="4572002" cy="3880514"/>
          </a:xfrm>
          <a:prstGeom prst="rect">
            <a:avLst/>
          </a:prstGeom>
          <a:noFill/>
          <a:ln>
            <a:noFill/>
          </a:ln>
        </p:spPr>
        <p:txBody>
          <a:bodyPr anchorCtr="0" anchor="t" bIns="45700" lIns="91425" spcFirstLastPara="1" rIns="91425" wrap="square" tIns="45700">
            <a:normAutofit lnSpcReduction="10000"/>
          </a:bodyPr>
          <a:lstStyle/>
          <a:p>
            <a:pPr indent="-182880" lvl="0" marL="182880" rtl="0" algn="l">
              <a:lnSpc>
                <a:spcPct val="95000"/>
              </a:lnSpc>
              <a:spcBef>
                <a:spcPts val="0"/>
              </a:spcBef>
              <a:spcAft>
                <a:spcPts val="0"/>
              </a:spcAft>
              <a:buSzPts val="1440"/>
              <a:buChar char="•"/>
            </a:pPr>
            <a:r>
              <a:rPr lang="nl-BE"/>
              <a:t>Reservaties maken / verwijderen</a:t>
            </a:r>
            <a:endParaRPr/>
          </a:p>
          <a:p>
            <a:pPr indent="-182880" lvl="0" marL="182880" rtl="0" algn="l">
              <a:lnSpc>
                <a:spcPct val="95000"/>
              </a:lnSpc>
              <a:spcBef>
                <a:spcPts val="1600"/>
              </a:spcBef>
              <a:spcAft>
                <a:spcPts val="0"/>
              </a:spcAft>
              <a:buSzPts val="1440"/>
              <a:buChar char="•"/>
            </a:pPr>
            <a:r>
              <a:rPr lang="nl-BE"/>
              <a:t>Feedback achterlaten / feedback bekijken</a:t>
            </a:r>
            <a:endParaRPr/>
          </a:p>
          <a:p>
            <a:pPr indent="-182880" lvl="0" marL="182880" rtl="0" algn="l">
              <a:lnSpc>
                <a:spcPct val="95000"/>
              </a:lnSpc>
              <a:spcBef>
                <a:spcPts val="1600"/>
              </a:spcBef>
              <a:spcAft>
                <a:spcPts val="0"/>
              </a:spcAft>
              <a:buSzPts val="1440"/>
              <a:buChar char="•"/>
            </a:pPr>
            <a:r>
              <a:rPr lang="nl-BE"/>
              <a:t>Admin tool -&gt; nieuwe bureaus aanmaken / wijzigen / verwijderen</a:t>
            </a:r>
            <a:endParaRPr/>
          </a:p>
          <a:p>
            <a:pPr indent="-182880" lvl="0" marL="182880" rtl="0" algn="l">
              <a:lnSpc>
                <a:spcPct val="95000"/>
              </a:lnSpc>
              <a:spcBef>
                <a:spcPts val="1600"/>
              </a:spcBef>
              <a:spcAft>
                <a:spcPts val="0"/>
              </a:spcAft>
              <a:buSzPts val="1440"/>
              <a:buChar char="•"/>
            </a:pPr>
            <a:r>
              <a:rPr lang="nl-BE"/>
              <a:t>Admin tool -&gt; gemaakte reservaties wijzigen (dan verschijnt er melding voor medewerker) / verwijderen</a:t>
            </a:r>
            <a:endParaRPr/>
          </a:p>
          <a:p>
            <a:pPr indent="-182880" lvl="0" marL="182880" rtl="0" algn="l">
              <a:lnSpc>
                <a:spcPct val="95000"/>
              </a:lnSpc>
              <a:spcBef>
                <a:spcPts val="1600"/>
              </a:spcBef>
              <a:spcAft>
                <a:spcPts val="0"/>
              </a:spcAft>
              <a:buSzPts val="1440"/>
              <a:buChar char="•"/>
            </a:pPr>
            <a:r>
              <a:rPr lang="nl-BE"/>
              <a:t>Admin tool -&gt; nieuw personeelslid toevoegen / wijzigen / verwijderen</a:t>
            </a:r>
            <a:endParaRPr/>
          </a:p>
          <a:p>
            <a:pPr indent="-182880" lvl="0" marL="182880" rtl="0" algn="l">
              <a:lnSpc>
                <a:spcPct val="95000"/>
              </a:lnSpc>
              <a:spcBef>
                <a:spcPts val="1600"/>
              </a:spcBef>
              <a:spcAft>
                <a:spcPts val="0"/>
              </a:spcAft>
              <a:buSzPts val="1440"/>
              <a:buChar char="•"/>
            </a:pPr>
            <a:r>
              <a:rPr lang="nl-BE"/>
              <a:t>Extra informatie -&gt; Demo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21"/>
          <p:cNvSpPr txBox="1"/>
          <p:nvPr>
            <p:ph type="title"/>
          </p:nvPr>
        </p:nvSpPr>
        <p:spPr>
          <a:xfrm>
            <a:off x="7878675" y="640079"/>
            <a:ext cx="3075836" cy="13661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Schoolbook"/>
              <a:buNone/>
            </a:pPr>
            <a:r>
              <a:rPr lang="nl-BE" sz="3200"/>
              <a:t>Kanban board</a:t>
            </a:r>
            <a:endParaRPr/>
          </a:p>
        </p:txBody>
      </p:sp>
      <p:sp>
        <p:nvSpPr>
          <p:cNvPr id="156" name="Google Shape;156;p21"/>
          <p:cNvSpPr txBox="1"/>
          <p:nvPr>
            <p:ph idx="1" type="body"/>
          </p:nvPr>
        </p:nvSpPr>
        <p:spPr>
          <a:xfrm>
            <a:off x="7878675" y="2325157"/>
            <a:ext cx="3075836" cy="3854979"/>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280"/>
              <a:buChar char="•"/>
            </a:pPr>
            <a:r>
              <a:rPr lang="nl-BE" sz="1600"/>
              <a:t>Beter gecoördineerd</a:t>
            </a:r>
            <a:endParaRPr sz="1600"/>
          </a:p>
          <a:p>
            <a:pPr indent="-182880" lvl="0" marL="182880" rtl="0" algn="l">
              <a:lnSpc>
                <a:spcPct val="95000"/>
              </a:lnSpc>
              <a:spcBef>
                <a:spcPts val="1600"/>
              </a:spcBef>
              <a:spcAft>
                <a:spcPts val="0"/>
              </a:spcAft>
              <a:buSzPts val="1280"/>
              <a:buChar char="•"/>
            </a:pPr>
            <a:r>
              <a:rPr lang="nl-BE" sz="1600"/>
              <a:t>Duidelijkheid</a:t>
            </a:r>
            <a:endParaRPr sz="1600"/>
          </a:p>
          <a:p>
            <a:pPr indent="-101599" lvl="0" marL="182880" rtl="0" algn="l">
              <a:lnSpc>
                <a:spcPct val="95000"/>
              </a:lnSpc>
              <a:spcBef>
                <a:spcPts val="1600"/>
              </a:spcBef>
              <a:spcAft>
                <a:spcPts val="0"/>
              </a:spcAft>
              <a:buSzPts val="1280"/>
              <a:buNone/>
            </a:pPr>
            <a:r>
              <a:t/>
            </a:r>
            <a:endParaRPr sz="1600"/>
          </a:p>
        </p:txBody>
      </p:sp>
      <p:sp>
        <p:nvSpPr>
          <p:cNvPr id="157" name="Google Shape;157;p21"/>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sp>
        <p:nvSpPr>
          <p:cNvPr id="158" name="Google Shape;158;p21"/>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A screenshot of a chat&#10;&#10;AI-generated content may be incorrect." id="159" name="Google Shape;159;p21"/>
          <p:cNvPicPr preferRelativeResize="0"/>
          <p:nvPr/>
        </p:nvPicPr>
        <p:blipFill rotWithShape="1">
          <a:blip r:embed="rId3">
            <a:alphaModFix/>
          </a:blip>
          <a:srcRect b="0" l="0" r="0" t="0"/>
          <a:stretch/>
        </p:blipFill>
        <p:spPr>
          <a:xfrm>
            <a:off x="2268252" y="299593"/>
            <a:ext cx="3075825" cy="625881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idx="1" type="body"/>
          </p:nvPr>
        </p:nvSpPr>
        <p:spPr>
          <a:xfrm>
            <a:off x="1261872" y="1828800"/>
            <a:ext cx="8595300" cy="4351200"/>
          </a:xfrm>
          <a:prstGeom prst="rect">
            <a:avLst/>
          </a:prstGeom>
        </p:spPr>
        <p:txBody>
          <a:bodyPr anchorCtr="0" anchor="t" bIns="45700" lIns="91425" spcFirstLastPara="1" rIns="91425" wrap="square" tIns="45700">
            <a:normAutofit/>
          </a:bodyPr>
          <a:lstStyle/>
          <a:p>
            <a:pPr indent="0" lvl="0" marL="0" rtl="0" algn="l">
              <a:spcBef>
                <a:spcPts val="1400"/>
              </a:spcBef>
              <a:spcAft>
                <a:spcPts val="200"/>
              </a:spcAft>
              <a:buNone/>
            </a:pPr>
            <a:r>
              <a:t/>
            </a:r>
            <a:endParaRPr/>
          </a:p>
        </p:txBody>
      </p:sp>
      <p:pic>
        <p:nvPicPr>
          <p:cNvPr id="166" name="Google Shape;166;p22"/>
          <p:cNvPicPr preferRelativeResize="0"/>
          <p:nvPr/>
        </p:nvPicPr>
        <p:blipFill>
          <a:blip r:embed="rId3">
            <a:alphaModFix/>
          </a:blip>
          <a:stretch>
            <a:fillRect/>
          </a:stretch>
        </p:blipFill>
        <p:spPr>
          <a:xfrm>
            <a:off x="142875" y="0"/>
            <a:ext cx="8715356" cy="6857999"/>
          </a:xfrm>
          <a:prstGeom prst="rect">
            <a:avLst/>
          </a:prstGeom>
          <a:noFill/>
          <a:ln>
            <a:noFill/>
          </a:ln>
        </p:spPr>
      </p:pic>
      <p:sp>
        <p:nvSpPr>
          <p:cNvPr id="167" name="Google Shape;167;p22"/>
          <p:cNvSpPr txBox="1"/>
          <p:nvPr/>
        </p:nvSpPr>
        <p:spPr>
          <a:xfrm>
            <a:off x="7558075" y="4227750"/>
            <a:ext cx="3248400" cy="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nl-BE" sz="4400">
                <a:solidFill>
                  <a:schemeClr val="dk1"/>
                </a:solidFill>
                <a:latin typeface="Century Schoolbook"/>
                <a:ea typeface="Century Schoolbook"/>
                <a:cs typeface="Century Schoolbook"/>
                <a:sym typeface="Century Schoolbook"/>
              </a:rPr>
              <a:t>ERD model</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74747"/>
            </a:gs>
            <a:gs pos="100000">
              <a:srgbClr val="262626"/>
            </a:gs>
          </a:gsLst>
          <a:path path="circle">
            <a:fillToRect b="50%" l="50%" r="50%" t="50%"/>
          </a:path>
          <a:tileRect/>
        </a:gradFill>
      </p:bgPr>
    </p:bg>
    <p:spTree>
      <p:nvGrpSpPr>
        <p:cNvPr id="171" name="Shape 171"/>
        <p:cNvGrpSpPr/>
        <p:nvPr/>
      </p:nvGrpSpPr>
      <p:grpSpPr>
        <a:xfrm>
          <a:off x="0" y="0"/>
          <a:ext cx="0" cy="0"/>
          <a:chOff x="0" y="0"/>
          <a:chExt cx="0" cy="0"/>
        </a:xfrm>
      </p:grpSpPr>
      <p:sp>
        <p:nvSpPr>
          <p:cNvPr id="172" name="Google Shape;172;p23"/>
          <p:cNvSpPr txBox="1"/>
          <p:nvPr>
            <p:ph type="title"/>
          </p:nvPr>
        </p:nvSpPr>
        <p:spPr>
          <a:xfrm>
            <a:off x="7829930" y="311680"/>
            <a:ext cx="3124581" cy="218502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entury Schoolbook"/>
              <a:buNone/>
            </a:pPr>
            <a:r>
              <a:rPr lang="nl-BE" sz="3600"/>
              <a:t>Gebruikte tools</a:t>
            </a:r>
            <a:endParaRPr/>
          </a:p>
        </p:txBody>
      </p:sp>
      <p:sp>
        <p:nvSpPr>
          <p:cNvPr id="173" name="Google Shape;173;p23"/>
          <p:cNvSpPr/>
          <p:nvPr/>
        </p:nvSpPr>
        <p:spPr>
          <a:xfrm>
            <a:off x="457201" y="0"/>
            <a:ext cx="3458292" cy="42062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pic>
        <p:nvPicPr>
          <p:cNvPr id="174" name="Google Shape;174;p23"/>
          <p:cNvPicPr preferRelativeResize="0"/>
          <p:nvPr/>
        </p:nvPicPr>
        <p:blipFill rotWithShape="1">
          <a:blip r:embed="rId3">
            <a:alphaModFix/>
          </a:blip>
          <a:srcRect b="0" l="0" r="0" t="0"/>
          <a:stretch/>
        </p:blipFill>
        <p:spPr>
          <a:xfrm>
            <a:off x="778934" y="697981"/>
            <a:ext cx="2833134" cy="2833134"/>
          </a:xfrm>
          <a:prstGeom prst="rect">
            <a:avLst/>
          </a:prstGeom>
          <a:noFill/>
          <a:ln>
            <a:noFill/>
          </a:ln>
        </p:spPr>
      </p:pic>
      <p:sp>
        <p:nvSpPr>
          <p:cNvPr id="175" name="Google Shape;175;p23"/>
          <p:cNvSpPr/>
          <p:nvPr/>
        </p:nvSpPr>
        <p:spPr>
          <a:xfrm>
            <a:off x="4073396" y="5812"/>
            <a:ext cx="3419856" cy="249089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pic>
        <p:nvPicPr>
          <p:cNvPr descr="Getting started with Flask: a Python microframework - Wisdom Geek" id="176" name="Google Shape;176;p23"/>
          <p:cNvPicPr preferRelativeResize="0"/>
          <p:nvPr/>
        </p:nvPicPr>
        <p:blipFill rotWithShape="1">
          <a:blip r:embed="rId4">
            <a:alphaModFix/>
          </a:blip>
          <a:srcRect b="0" l="0" r="0" t="0"/>
          <a:stretch/>
        </p:blipFill>
        <p:spPr>
          <a:xfrm>
            <a:off x="4396050" y="358143"/>
            <a:ext cx="2774205" cy="1728993"/>
          </a:xfrm>
          <a:prstGeom prst="rect">
            <a:avLst/>
          </a:prstGeom>
          <a:noFill/>
          <a:ln>
            <a:noFill/>
          </a:ln>
        </p:spPr>
      </p:pic>
      <p:sp>
        <p:nvSpPr>
          <p:cNvPr id="177" name="Google Shape;177;p23"/>
          <p:cNvSpPr/>
          <p:nvPr/>
        </p:nvSpPr>
        <p:spPr>
          <a:xfrm>
            <a:off x="457201" y="4367107"/>
            <a:ext cx="3458292" cy="249089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pic>
        <p:nvPicPr>
          <p:cNvPr descr="Figma : un éditeur de logiciels à forte croissance - Propos Utiles" id="178" name="Google Shape;178;p23"/>
          <p:cNvPicPr preferRelativeResize="0"/>
          <p:nvPr/>
        </p:nvPicPr>
        <p:blipFill rotWithShape="1">
          <a:blip r:embed="rId5">
            <a:alphaModFix/>
          </a:blip>
          <a:srcRect b="0" l="0" r="0" t="0"/>
          <a:stretch/>
        </p:blipFill>
        <p:spPr>
          <a:xfrm>
            <a:off x="788548" y="4921055"/>
            <a:ext cx="2833134" cy="1395318"/>
          </a:xfrm>
          <a:prstGeom prst="rect">
            <a:avLst/>
          </a:prstGeom>
          <a:noFill/>
          <a:ln>
            <a:noFill/>
          </a:ln>
        </p:spPr>
      </p:pic>
      <p:sp>
        <p:nvSpPr>
          <p:cNvPr id="179" name="Google Shape;179;p23"/>
          <p:cNvSpPr/>
          <p:nvPr/>
        </p:nvSpPr>
        <p:spPr>
          <a:xfrm>
            <a:off x="4073396" y="2651761"/>
            <a:ext cx="3423003" cy="42062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pic>
        <p:nvPicPr>
          <p:cNvPr descr="Supabase - YouTube" id="180" name="Google Shape;180;p23"/>
          <p:cNvPicPr preferRelativeResize="0"/>
          <p:nvPr/>
        </p:nvPicPr>
        <p:blipFill rotWithShape="1">
          <a:blip r:embed="rId6">
            <a:alphaModFix/>
          </a:blip>
          <a:srcRect b="0" l="0" r="0" t="0"/>
          <a:stretch/>
        </p:blipFill>
        <p:spPr>
          <a:xfrm>
            <a:off x="4410074" y="3366993"/>
            <a:ext cx="2774205" cy="2774205"/>
          </a:xfrm>
          <a:prstGeom prst="rect">
            <a:avLst/>
          </a:prstGeom>
          <a:noFill/>
          <a:ln>
            <a:noFill/>
          </a:ln>
        </p:spPr>
      </p:pic>
      <p:sp>
        <p:nvSpPr>
          <p:cNvPr descr="GitHub - Wikipedia" id="181" name="Google Shape;181;p23"/>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descr="Figma: view. comment. mirror. - Apps on Google Play" id="182" name="Google Shape;182;p23"/>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grpSp>
        <p:nvGrpSpPr>
          <p:cNvPr id="183" name="Google Shape;183;p23"/>
          <p:cNvGrpSpPr/>
          <p:nvPr/>
        </p:nvGrpSpPr>
        <p:grpSpPr>
          <a:xfrm>
            <a:off x="7830314" y="3179462"/>
            <a:ext cx="3150020" cy="3000019"/>
            <a:chOff x="384" y="366836"/>
            <a:chExt cx="3150020" cy="3000019"/>
          </a:xfrm>
        </p:grpSpPr>
        <p:sp>
          <p:nvSpPr>
            <p:cNvPr id="184" name="Google Shape;184;p23"/>
            <p:cNvSpPr/>
            <p:nvPr/>
          </p:nvSpPr>
          <p:spPr>
            <a:xfrm>
              <a:off x="384" y="366836"/>
              <a:ext cx="1500009" cy="900005"/>
            </a:xfrm>
            <a:prstGeom prst="rect">
              <a:avLst/>
            </a:prstGeom>
            <a:solidFill>
              <a:srgbClr val="BB582B"/>
            </a:solidFill>
            <a:ln cap="flat" cmpd="sng" w="171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3"/>
            <p:cNvSpPr txBox="1"/>
            <p:nvPr/>
          </p:nvSpPr>
          <p:spPr>
            <a:xfrm>
              <a:off x="384" y="366836"/>
              <a:ext cx="1500009" cy="90000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Schoolbook"/>
                <a:buNone/>
              </a:pPr>
              <a:r>
                <a:rPr lang="nl-BE" sz="1100">
                  <a:solidFill>
                    <a:schemeClr val="lt1"/>
                  </a:solidFill>
                  <a:latin typeface="Century Schoolbook"/>
                  <a:ea typeface="Century Schoolbook"/>
                  <a:cs typeface="Century Schoolbook"/>
                  <a:sym typeface="Century Schoolbook"/>
                </a:rPr>
                <a:t>Webapp -&gt; desktop en mobiel</a:t>
              </a:r>
              <a:endParaRPr sz="1100">
                <a:solidFill>
                  <a:schemeClr val="lt1"/>
                </a:solidFill>
                <a:latin typeface="Century Schoolbook"/>
                <a:ea typeface="Century Schoolbook"/>
                <a:cs typeface="Century Schoolbook"/>
                <a:sym typeface="Century Schoolbook"/>
              </a:endParaRPr>
            </a:p>
          </p:txBody>
        </p:sp>
        <p:sp>
          <p:nvSpPr>
            <p:cNvPr id="186" name="Google Shape;186;p23"/>
            <p:cNvSpPr/>
            <p:nvPr/>
          </p:nvSpPr>
          <p:spPr>
            <a:xfrm>
              <a:off x="1650395" y="366836"/>
              <a:ext cx="1500009" cy="900005"/>
            </a:xfrm>
            <a:prstGeom prst="rect">
              <a:avLst/>
            </a:prstGeom>
            <a:solidFill>
              <a:schemeClr val="accent3"/>
            </a:solidFill>
            <a:ln cap="flat" cmpd="sng" w="171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3"/>
            <p:cNvSpPr txBox="1"/>
            <p:nvPr/>
          </p:nvSpPr>
          <p:spPr>
            <a:xfrm>
              <a:off x="1650395" y="366836"/>
              <a:ext cx="1500009" cy="90000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Schoolbook"/>
                <a:buNone/>
              </a:pPr>
              <a:r>
                <a:rPr lang="nl-BE" sz="1100">
                  <a:solidFill>
                    <a:schemeClr val="lt1"/>
                  </a:solidFill>
                  <a:latin typeface="Century Schoolbook"/>
                  <a:ea typeface="Century Schoolbook"/>
                  <a:cs typeface="Century Schoolbook"/>
                  <a:sym typeface="Century Schoolbook"/>
                </a:rPr>
                <a:t>Supabase: makkelijke en gratis PostGreSQL database</a:t>
              </a:r>
              <a:endParaRPr sz="1100">
                <a:solidFill>
                  <a:schemeClr val="lt1"/>
                </a:solidFill>
                <a:latin typeface="Century Schoolbook"/>
                <a:ea typeface="Century Schoolbook"/>
                <a:cs typeface="Century Schoolbook"/>
                <a:sym typeface="Century Schoolbook"/>
              </a:endParaRPr>
            </a:p>
          </p:txBody>
        </p:sp>
        <p:sp>
          <p:nvSpPr>
            <p:cNvPr id="188" name="Google Shape;188;p23"/>
            <p:cNvSpPr/>
            <p:nvPr/>
          </p:nvSpPr>
          <p:spPr>
            <a:xfrm>
              <a:off x="384" y="1416843"/>
              <a:ext cx="1500009" cy="900005"/>
            </a:xfrm>
            <a:prstGeom prst="rect">
              <a:avLst/>
            </a:prstGeom>
            <a:solidFill>
              <a:srgbClr val="9B8355"/>
            </a:solidFill>
            <a:ln cap="flat" cmpd="sng" w="171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3"/>
            <p:cNvSpPr txBox="1"/>
            <p:nvPr/>
          </p:nvSpPr>
          <p:spPr>
            <a:xfrm>
              <a:off x="384" y="1416843"/>
              <a:ext cx="1500009" cy="90000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Schoolbook"/>
                <a:buNone/>
              </a:pPr>
              <a:r>
                <a:rPr lang="nl-BE" sz="1100">
                  <a:solidFill>
                    <a:schemeClr val="lt1"/>
                  </a:solidFill>
                  <a:latin typeface="Century Schoolbook"/>
                  <a:ea typeface="Century Schoolbook"/>
                  <a:cs typeface="Century Schoolbook"/>
                  <a:sym typeface="Century Schoolbook"/>
                </a:rPr>
                <a:t>Github voor makkelijk files te delen</a:t>
              </a:r>
              <a:endParaRPr sz="1100">
                <a:solidFill>
                  <a:schemeClr val="lt1"/>
                </a:solidFill>
                <a:latin typeface="Century Schoolbook"/>
                <a:ea typeface="Century Schoolbook"/>
                <a:cs typeface="Century Schoolbook"/>
                <a:sym typeface="Century Schoolbook"/>
              </a:endParaRPr>
            </a:p>
          </p:txBody>
        </p:sp>
        <p:sp>
          <p:nvSpPr>
            <p:cNvPr id="190" name="Google Shape;190;p23"/>
            <p:cNvSpPr/>
            <p:nvPr/>
          </p:nvSpPr>
          <p:spPr>
            <a:xfrm>
              <a:off x="1650395" y="1416843"/>
              <a:ext cx="1500009" cy="900005"/>
            </a:xfrm>
            <a:prstGeom prst="rect">
              <a:avLst/>
            </a:prstGeom>
            <a:solidFill>
              <a:schemeClr val="accent5"/>
            </a:solidFill>
            <a:ln cap="flat" cmpd="sng" w="171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3"/>
            <p:cNvSpPr txBox="1"/>
            <p:nvPr/>
          </p:nvSpPr>
          <p:spPr>
            <a:xfrm>
              <a:off x="1650395" y="1416843"/>
              <a:ext cx="1500009" cy="90000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Schoolbook"/>
                <a:buNone/>
              </a:pPr>
              <a:r>
                <a:rPr lang="nl-BE" sz="1100">
                  <a:solidFill>
                    <a:schemeClr val="lt1"/>
                  </a:solidFill>
                  <a:latin typeface="Century Schoolbook"/>
                  <a:ea typeface="Century Schoolbook"/>
                  <a:cs typeface="Century Schoolbook"/>
                  <a:sym typeface="Century Schoolbook"/>
                </a:rPr>
                <a:t>Figma voor een idee te krijgen van de UI</a:t>
              </a:r>
              <a:endParaRPr sz="1100">
                <a:solidFill>
                  <a:schemeClr val="lt1"/>
                </a:solidFill>
                <a:latin typeface="Century Schoolbook"/>
                <a:ea typeface="Century Schoolbook"/>
                <a:cs typeface="Century Schoolbook"/>
                <a:sym typeface="Century Schoolbook"/>
              </a:endParaRPr>
            </a:p>
          </p:txBody>
        </p:sp>
        <p:sp>
          <p:nvSpPr>
            <p:cNvPr id="192" name="Google Shape;192;p23"/>
            <p:cNvSpPr/>
            <p:nvPr/>
          </p:nvSpPr>
          <p:spPr>
            <a:xfrm>
              <a:off x="384" y="2466850"/>
              <a:ext cx="1500009" cy="900005"/>
            </a:xfrm>
            <a:prstGeom prst="rect">
              <a:avLst/>
            </a:prstGeom>
            <a:solidFill>
              <a:schemeClr val="accent6"/>
            </a:solidFill>
            <a:ln cap="flat" cmpd="sng" w="171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3"/>
            <p:cNvSpPr txBox="1"/>
            <p:nvPr/>
          </p:nvSpPr>
          <p:spPr>
            <a:xfrm>
              <a:off x="384" y="2466850"/>
              <a:ext cx="1500009" cy="90000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Schoolbook"/>
                <a:buNone/>
              </a:pPr>
              <a:r>
                <a:rPr lang="nl-BE" sz="1100">
                  <a:solidFill>
                    <a:schemeClr val="lt1"/>
                  </a:solidFill>
                  <a:latin typeface="Century Schoolbook"/>
                  <a:ea typeface="Century Schoolbook"/>
                  <a:cs typeface="Century Schoolbook"/>
                  <a:sym typeface="Century Schoolbook"/>
                </a:rPr>
                <a:t>VS code: efficient programma voor webapplicatie te programmeren (HTML en CSS)</a:t>
              </a:r>
              <a:endParaRPr sz="1100">
                <a:solidFill>
                  <a:schemeClr val="lt1"/>
                </a:solidFill>
                <a:latin typeface="Century Schoolbook"/>
                <a:ea typeface="Century Schoolbook"/>
                <a:cs typeface="Century Schoolbook"/>
                <a:sym typeface="Century Schoolbook"/>
              </a:endParaRPr>
            </a:p>
          </p:txBody>
        </p:sp>
        <p:sp>
          <p:nvSpPr>
            <p:cNvPr id="194" name="Google Shape;194;p23"/>
            <p:cNvSpPr/>
            <p:nvPr/>
          </p:nvSpPr>
          <p:spPr>
            <a:xfrm>
              <a:off x="1650395" y="2466850"/>
              <a:ext cx="1500009" cy="900005"/>
            </a:xfrm>
            <a:prstGeom prst="rect">
              <a:avLst/>
            </a:prstGeom>
            <a:solidFill>
              <a:srgbClr val="BB582B"/>
            </a:solidFill>
            <a:ln cap="flat" cmpd="sng" w="171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3"/>
            <p:cNvSpPr txBox="1"/>
            <p:nvPr/>
          </p:nvSpPr>
          <p:spPr>
            <a:xfrm>
              <a:off x="1650395" y="2466850"/>
              <a:ext cx="1500009" cy="90000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Century Schoolbook"/>
                <a:buNone/>
              </a:pPr>
              <a:r>
                <a:rPr lang="nl-BE" sz="1100">
                  <a:solidFill>
                    <a:schemeClr val="lt1"/>
                  </a:solidFill>
                  <a:latin typeface="Century Schoolbook"/>
                  <a:ea typeface="Century Schoolbook"/>
                  <a:cs typeface="Century Schoolbook"/>
                  <a:sym typeface="Century Schoolbook"/>
                </a:rPr>
                <a:t>Flask (python): makkelijk framework </a:t>
              </a:r>
              <a:endParaRPr sz="1100">
                <a:solidFill>
                  <a:schemeClr val="lt1"/>
                </a:solidFill>
                <a:latin typeface="Century Schoolbook"/>
                <a:ea typeface="Century Schoolbook"/>
                <a:cs typeface="Century Schoolbook"/>
                <a:sym typeface="Century Schoolbook"/>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UI prototype vs. huidige site</a:t>
            </a:r>
            <a:endParaRPr/>
          </a:p>
        </p:txBody>
      </p:sp>
      <p:pic>
        <p:nvPicPr>
          <p:cNvPr id="201" name="Google Shape;201;p24" title="UI_Homescreen (1).png"/>
          <p:cNvPicPr preferRelativeResize="0"/>
          <p:nvPr/>
        </p:nvPicPr>
        <p:blipFill>
          <a:blip r:embed="rId3">
            <a:alphaModFix/>
          </a:blip>
          <a:stretch>
            <a:fillRect/>
          </a:stretch>
        </p:blipFill>
        <p:spPr>
          <a:xfrm>
            <a:off x="945725" y="4278300"/>
            <a:ext cx="3723577" cy="2419300"/>
          </a:xfrm>
          <a:prstGeom prst="rect">
            <a:avLst/>
          </a:prstGeom>
          <a:noFill/>
          <a:ln>
            <a:noFill/>
          </a:ln>
        </p:spPr>
      </p:pic>
      <p:pic>
        <p:nvPicPr>
          <p:cNvPr id="202" name="Google Shape;202;p24" title="UI_Login (1).png"/>
          <p:cNvPicPr preferRelativeResize="0"/>
          <p:nvPr/>
        </p:nvPicPr>
        <p:blipFill>
          <a:blip r:embed="rId4">
            <a:alphaModFix/>
          </a:blip>
          <a:stretch>
            <a:fillRect/>
          </a:stretch>
        </p:blipFill>
        <p:spPr>
          <a:xfrm>
            <a:off x="945726" y="1820338"/>
            <a:ext cx="3591849" cy="2329075"/>
          </a:xfrm>
          <a:prstGeom prst="rect">
            <a:avLst/>
          </a:prstGeom>
          <a:noFill/>
          <a:ln>
            <a:noFill/>
          </a:ln>
        </p:spPr>
      </p:pic>
      <p:pic>
        <p:nvPicPr>
          <p:cNvPr id="203" name="Google Shape;203;p24"/>
          <p:cNvPicPr preferRelativeResize="0"/>
          <p:nvPr/>
        </p:nvPicPr>
        <p:blipFill rotWithShape="1">
          <a:blip r:embed="rId5">
            <a:alphaModFix/>
          </a:blip>
          <a:srcRect b="0" l="9876" r="12664" t="0"/>
          <a:stretch/>
        </p:blipFill>
        <p:spPr>
          <a:xfrm>
            <a:off x="6441700" y="1890225"/>
            <a:ext cx="3591849" cy="2189324"/>
          </a:xfrm>
          <a:prstGeom prst="rect">
            <a:avLst/>
          </a:prstGeom>
          <a:noFill/>
          <a:ln>
            <a:noFill/>
          </a:ln>
        </p:spPr>
      </p:pic>
      <p:cxnSp>
        <p:nvCxnSpPr>
          <p:cNvPr id="204" name="Google Shape;204;p24"/>
          <p:cNvCxnSpPr>
            <a:endCxn id="203" idx="1"/>
          </p:cNvCxnSpPr>
          <p:nvPr/>
        </p:nvCxnSpPr>
        <p:spPr>
          <a:xfrm>
            <a:off x="4537600" y="2984887"/>
            <a:ext cx="1904100" cy="0"/>
          </a:xfrm>
          <a:prstGeom prst="straightConnector1">
            <a:avLst/>
          </a:prstGeom>
          <a:noFill/>
          <a:ln cap="flat" cmpd="sng" w="9525">
            <a:solidFill>
              <a:schemeClr val="dk2"/>
            </a:solidFill>
            <a:prstDash val="solid"/>
            <a:round/>
            <a:headEnd len="med" w="med" type="none"/>
            <a:tailEnd len="med" w="med" type="triangle"/>
          </a:ln>
        </p:spPr>
      </p:cxnSp>
      <p:pic>
        <p:nvPicPr>
          <p:cNvPr id="205" name="Google Shape;205;p24"/>
          <p:cNvPicPr preferRelativeResize="0"/>
          <p:nvPr/>
        </p:nvPicPr>
        <p:blipFill rotWithShape="1">
          <a:blip r:embed="rId6">
            <a:alphaModFix/>
          </a:blip>
          <a:srcRect b="2200" l="10796" r="10457" t="0"/>
          <a:stretch/>
        </p:blipFill>
        <p:spPr>
          <a:xfrm>
            <a:off x="6441700" y="4278325"/>
            <a:ext cx="3723601" cy="2419300"/>
          </a:xfrm>
          <a:prstGeom prst="rect">
            <a:avLst/>
          </a:prstGeom>
          <a:noFill/>
          <a:ln>
            <a:noFill/>
          </a:ln>
        </p:spPr>
      </p:pic>
      <p:cxnSp>
        <p:nvCxnSpPr>
          <p:cNvPr id="206" name="Google Shape;206;p24"/>
          <p:cNvCxnSpPr>
            <a:stCxn id="201" idx="3"/>
            <a:endCxn id="205" idx="1"/>
          </p:cNvCxnSpPr>
          <p:nvPr/>
        </p:nvCxnSpPr>
        <p:spPr>
          <a:xfrm>
            <a:off x="4669302" y="5487949"/>
            <a:ext cx="17724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1261872" y="365760"/>
            <a:ext cx="96927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UI prototype vs. huidige site</a:t>
            </a:r>
            <a:endParaRPr/>
          </a:p>
        </p:txBody>
      </p:sp>
      <p:pic>
        <p:nvPicPr>
          <p:cNvPr id="212" name="Google Shape;212;p25" title="UI_Beschikbare_bureaus.png"/>
          <p:cNvPicPr preferRelativeResize="0"/>
          <p:nvPr/>
        </p:nvPicPr>
        <p:blipFill>
          <a:blip r:embed="rId3">
            <a:alphaModFix/>
          </a:blip>
          <a:stretch>
            <a:fillRect/>
          </a:stretch>
        </p:blipFill>
        <p:spPr>
          <a:xfrm>
            <a:off x="765063" y="4403251"/>
            <a:ext cx="3530499" cy="2286501"/>
          </a:xfrm>
          <a:prstGeom prst="rect">
            <a:avLst/>
          </a:prstGeom>
          <a:noFill/>
          <a:ln>
            <a:noFill/>
          </a:ln>
        </p:spPr>
      </p:pic>
      <p:pic>
        <p:nvPicPr>
          <p:cNvPr id="213" name="Google Shape;213;p25" title="UI_nieuwe_reservatie.png"/>
          <p:cNvPicPr preferRelativeResize="0"/>
          <p:nvPr/>
        </p:nvPicPr>
        <p:blipFill>
          <a:blip r:embed="rId4">
            <a:alphaModFix/>
          </a:blip>
          <a:stretch>
            <a:fillRect/>
          </a:stretch>
        </p:blipFill>
        <p:spPr>
          <a:xfrm>
            <a:off x="797876" y="1904099"/>
            <a:ext cx="3497673" cy="2286501"/>
          </a:xfrm>
          <a:prstGeom prst="rect">
            <a:avLst/>
          </a:prstGeom>
          <a:noFill/>
          <a:ln>
            <a:noFill/>
          </a:ln>
        </p:spPr>
      </p:pic>
      <p:pic>
        <p:nvPicPr>
          <p:cNvPr id="214" name="Google Shape;214;p25"/>
          <p:cNvPicPr preferRelativeResize="0"/>
          <p:nvPr/>
        </p:nvPicPr>
        <p:blipFill rotWithShape="1">
          <a:blip r:embed="rId5">
            <a:alphaModFix/>
          </a:blip>
          <a:srcRect b="0" l="7980" r="12051" t="0"/>
          <a:stretch/>
        </p:blipFill>
        <p:spPr>
          <a:xfrm>
            <a:off x="6248050" y="1904100"/>
            <a:ext cx="3530473" cy="2286501"/>
          </a:xfrm>
          <a:prstGeom prst="rect">
            <a:avLst/>
          </a:prstGeom>
          <a:noFill/>
          <a:ln>
            <a:noFill/>
          </a:ln>
        </p:spPr>
      </p:pic>
      <p:cxnSp>
        <p:nvCxnSpPr>
          <p:cNvPr id="215" name="Google Shape;215;p25"/>
          <p:cNvCxnSpPr>
            <a:stCxn id="213" idx="3"/>
            <a:endCxn id="214" idx="1"/>
          </p:cNvCxnSpPr>
          <p:nvPr/>
        </p:nvCxnSpPr>
        <p:spPr>
          <a:xfrm>
            <a:off x="4295549" y="3047349"/>
            <a:ext cx="1952400" cy="0"/>
          </a:xfrm>
          <a:prstGeom prst="straightConnector1">
            <a:avLst/>
          </a:prstGeom>
          <a:noFill/>
          <a:ln cap="flat" cmpd="sng" w="9525">
            <a:solidFill>
              <a:schemeClr val="dk2"/>
            </a:solidFill>
            <a:prstDash val="solid"/>
            <a:round/>
            <a:headEnd len="med" w="med" type="none"/>
            <a:tailEnd len="med" w="med" type="triangle"/>
          </a:ln>
        </p:spPr>
      </p:cxnSp>
      <p:pic>
        <p:nvPicPr>
          <p:cNvPr id="216" name="Google Shape;216;p25"/>
          <p:cNvPicPr preferRelativeResize="0"/>
          <p:nvPr/>
        </p:nvPicPr>
        <p:blipFill rotWithShape="1">
          <a:blip r:embed="rId6">
            <a:alphaModFix/>
          </a:blip>
          <a:srcRect b="0" l="8321" r="14050" t="0"/>
          <a:stretch/>
        </p:blipFill>
        <p:spPr>
          <a:xfrm>
            <a:off x="6264450" y="4403250"/>
            <a:ext cx="3497673" cy="2286500"/>
          </a:xfrm>
          <a:prstGeom prst="rect">
            <a:avLst/>
          </a:prstGeom>
          <a:noFill/>
          <a:ln>
            <a:noFill/>
          </a:ln>
        </p:spPr>
      </p:pic>
      <p:cxnSp>
        <p:nvCxnSpPr>
          <p:cNvPr id="217" name="Google Shape;217;p25"/>
          <p:cNvCxnSpPr>
            <a:stCxn id="212" idx="3"/>
            <a:endCxn id="216" idx="1"/>
          </p:cNvCxnSpPr>
          <p:nvPr/>
        </p:nvCxnSpPr>
        <p:spPr>
          <a:xfrm>
            <a:off x="4295561" y="5546501"/>
            <a:ext cx="1968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5984263" y="516375"/>
            <a:ext cx="5078400" cy="741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Complex algoritme</a:t>
            </a:r>
            <a:endParaRPr/>
          </a:p>
        </p:txBody>
      </p:sp>
      <p:pic>
        <p:nvPicPr>
          <p:cNvPr id="223" name="Google Shape;223;p26"/>
          <p:cNvPicPr preferRelativeResize="0"/>
          <p:nvPr/>
        </p:nvPicPr>
        <p:blipFill>
          <a:blip r:embed="rId3">
            <a:alphaModFix/>
          </a:blip>
          <a:stretch>
            <a:fillRect/>
          </a:stretch>
        </p:blipFill>
        <p:spPr>
          <a:xfrm>
            <a:off x="1" y="0"/>
            <a:ext cx="4998623" cy="4027350"/>
          </a:xfrm>
          <a:prstGeom prst="rect">
            <a:avLst/>
          </a:prstGeom>
          <a:noFill/>
          <a:ln>
            <a:noFill/>
          </a:ln>
        </p:spPr>
      </p:pic>
      <p:pic>
        <p:nvPicPr>
          <p:cNvPr id="224" name="Google Shape;224;p26"/>
          <p:cNvPicPr preferRelativeResize="0"/>
          <p:nvPr/>
        </p:nvPicPr>
        <p:blipFill>
          <a:blip r:embed="rId4">
            <a:alphaModFix/>
          </a:blip>
          <a:stretch>
            <a:fillRect/>
          </a:stretch>
        </p:blipFill>
        <p:spPr>
          <a:xfrm>
            <a:off x="0" y="4027350"/>
            <a:ext cx="4648261" cy="2849875"/>
          </a:xfrm>
          <a:prstGeom prst="rect">
            <a:avLst/>
          </a:prstGeom>
          <a:noFill/>
          <a:ln>
            <a:noFill/>
          </a:ln>
        </p:spPr>
      </p:pic>
      <p:pic>
        <p:nvPicPr>
          <p:cNvPr id="225" name="Google Shape;225;p26"/>
          <p:cNvPicPr preferRelativeResize="0"/>
          <p:nvPr/>
        </p:nvPicPr>
        <p:blipFill>
          <a:blip r:embed="rId5">
            <a:alphaModFix/>
          </a:blip>
          <a:stretch>
            <a:fillRect/>
          </a:stretch>
        </p:blipFill>
        <p:spPr>
          <a:xfrm>
            <a:off x="5206675" y="1951112"/>
            <a:ext cx="6114175" cy="29557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32" name="Google Shape;232;p27"/>
          <p:cNvSpPr txBox="1"/>
          <p:nvPr>
            <p:ph idx="1" type="body"/>
          </p:nvPr>
        </p:nvSpPr>
        <p:spPr>
          <a:xfrm>
            <a:off x="1261872" y="1828800"/>
            <a:ext cx="8595300" cy="4351200"/>
          </a:xfrm>
          <a:prstGeom prst="rect">
            <a:avLst/>
          </a:prstGeom>
        </p:spPr>
        <p:txBody>
          <a:bodyPr anchorCtr="0" anchor="t" bIns="45700" lIns="91425" spcFirstLastPara="1" rIns="91425" wrap="square" tIns="45700">
            <a:normAutofit/>
          </a:bodyPr>
          <a:lstStyle/>
          <a:p>
            <a:pPr indent="0" lvl="0" marL="0" rtl="0" algn="l">
              <a:spcBef>
                <a:spcPts val="1400"/>
              </a:spcBef>
              <a:spcAft>
                <a:spcPts val="200"/>
              </a:spcAft>
              <a:buNone/>
            </a:pPr>
            <a:r>
              <a:t/>
            </a:r>
            <a:endParaRPr/>
          </a:p>
        </p:txBody>
      </p:sp>
      <p:pic>
        <p:nvPicPr>
          <p:cNvPr id="233" name="Google Shape;233;p27"/>
          <p:cNvPicPr preferRelativeResize="0"/>
          <p:nvPr/>
        </p:nvPicPr>
        <p:blipFill>
          <a:blip r:embed="rId3">
            <a:alphaModFix/>
          </a:blip>
          <a:stretch>
            <a:fillRect/>
          </a:stretch>
        </p:blipFill>
        <p:spPr>
          <a:xfrm>
            <a:off x="1933370" y="371424"/>
            <a:ext cx="7252324" cy="61151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type="title"/>
          </p:nvPr>
        </p:nvSpPr>
        <p:spPr>
          <a:xfrm>
            <a:off x="1261872" y="365760"/>
            <a:ext cx="96927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40" name="Google Shape;240;p28"/>
          <p:cNvSpPr txBox="1"/>
          <p:nvPr>
            <p:ph idx="1" type="body"/>
          </p:nvPr>
        </p:nvSpPr>
        <p:spPr>
          <a:xfrm>
            <a:off x="1261872" y="1828800"/>
            <a:ext cx="8595300" cy="4351200"/>
          </a:xfrm>
          <a:prstGeom prst="rect">
            <a:avLst/>
          </a:prstGeom>
        </p:spPr>
        <p:txBody>
          <a:bodyPr anchorCtr="0" anchor="t" bIns="45700" lIns="91425" spcFirstLastPara="1" rIns="91425" wrap="square" tIns="45700">
            <a:normAutofit/>
          </a:bodyPr>
          <a:lstStyle/>
          <a:p>
            <a:pPr indent="0" lvl="0" marL="0" rtl="0" algn="l">
              <a:spcBef>
                <a:spcPts val="1400"/>
              </a:spcBef>
              <a:spcAft>
                <a:spcPts val="200"/>
              </a:spcAft>
              <a:buNone/>
            </a:pPr>
            <a:r>
              <a:t/>
            </a:r>
            <a:endParaRPr/>
          </a:p>
        </p:txBody>
      </p:sp>
      <p:pic>
        <p:nvPicPr>
          <p:cNvPr id="241" name="Google Shape;241;p28"/>
          <p:cNvPicPr preferRelativeResize="0"/>
          <p:nvPr/>
        </p:nvPicPr>
        <p:blipFill>
          <a:blip r:embed="rId3">
            <a:alphaModFix/>
          </a:blip>
          <a:stretch>
            <a:fillRect/>
          </a:stretch>
        </p:blipFill>
        <p:spPr>
          <a:xfrm>
            <a:off x="64950" y="365750"/>
            <a:ext cx="6098276" cy="2861079"/>
          </a:xfrm>
          <a:prstGeom prst="rect">
            <a:avLst/>
          </a:prstGeom>
          <a:noFill/>
          <a:ln>
            <a:noFill/>
          </a:ln>
        </p:spPr>
      </p:pic>
      <p:pic>
        <p:nvPicPr>
          <p:cNvPr id="242" name="Google Shape;242;p28"/>
          <p:cNvPicPr preferRelativeResize="0"/>
          <p:nvPr/>
        </p:nvPicPr>
        <p:blipFill>
          <a:blip r:embed="rId4">
            <a:alphaModFix/>
          </a:blip>
          <a:stretch>
            <a:fillRect/>
          </a:stretch>
        </p:blipFill>
        <p:spPr>
          <a:xfrm>
            <a:off x="64950" y="4273275"/>
            <a:ext cx="6098274" cy="2156175"/>
          </a:xfrm>
          <a:prstGeom prst="rect">
            <a:avLst/>
          </a:prstGeom>
          <a:noFill/>
          <a:ln>
            <a:noFill/>
          </a:ln>
        </p:spPr>
      </p:pic>
      <p:pic>
        <p:nvPicPr>
          <p:cNvPr id="243" name="Google Shape;243;p28"/>
          <p:cNvPicPr preferRelativeResize="0"/>
          <p:nvPr/>
        </p:nvPicPr>
        <p:blipFill>
          <a:blip r:embed="rId5">
            <a:alphaModFix/>
          </a:blip>
          <a:stretch>
            <a:fillRect/>
          </a:stretch>
        </p:blipFill>
        <p:spPr>
          <a:xfrm>
            <a:off x="6384062" y="365749"/>
            <a:ext cx="5632749" cy="1968975"/>
          </a:xfrm>
          <a:prstGeom prst="rect">
            <a:avLst/>
          </a:prstGeom>
          <a:noFill/>
          <a:ln>
            <a:noFill/>
          </a:ln>
        </p:spPr>
      </p:pic>
      <p:pic>
        <p:nvPicPr>
          <p:cNvPr id="244" name="Google Shape;244;p28"/>
          <p:cNvPicPr preferRelativeResize="0"/>
          <p:nvPr/>
        </p:nvPicPr>
        <p:blipFill>
          <a:blip r:embed="rId6">
            <a:alphaModFix/>
          </a:blip>
          <a:stretch>
            <a:fillRect/>
          </a:stretch>
        </p:blipFill>
        <p:spPr>
          <a:xfrm>
            <a:off x="6325470" y="4273275"/>
            <a:ext cx="5749919" cy="1874974"/>
          </a:xfrm>
          <a:prstGeom prst="rect">
            <a:avLst/>
          </a:prstGeom>
          <a:noFill/>
          <a:ln>
            <a:noFill/>
          </a:ln>
        </p:spPr>
      </p:pic>
      <p:sp>
        <p:nvSpPr>
          <p:cNvPr id="245" name="Google Shape;245;p28"/>
          <p:cNvSpPr txBox="1"/>
          <p:nvPr/>
        </p:nvSpPr>
        <p:spPr>
          <a:xfrm>
            <a:off x="6325475" y="3870600"/>
            <a:ext cx="3091200" cy="6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BE" sz="1800">
                <a:solidFill>
                  <a:schemeClr val="dk1"/>
                </a:solidFill>
                <a:latin typeface="Century Schoolbook"/>
                <a:ea typeface="Century Schoolbook"/>
                <a:cs typeface="Century Schoolbook"/>
                <a:sym typeface="Century Schoolbook"/>
              </a:rPr>
              <a:t>(Priority scoring)</a:t>
            </a:r>
            <a:endParaRPr b="1"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29"/>
          <p:cNvPicPr preferRelativeResize="0"/>
          <p:nvPr/>
        </p:nvPicPr>
        <p:blipFill>
          <a:blip r:embed="rId3">
            <a:alphaModFix/>
          </a:blip>
          <a:stretch>
            <a:fillRect/>
          </a:stretch>
        </p:blipFill>
        <p:spPr>
          <a:xfrm>
            <a:off x="0" y="246800"/>
            <a:ext cx="4909700" cy="2507099"/>
          </a:xfrm>
          <a:prstGeom prst="rect">
            <a:avLst/>
          </a:prstGeom>
          <a:noFill/>
          <a:ln>
            <a:noFill/>
          </a:ln>
        </p:spPr>
      </p:pic>
      <p:pic>
        <p:nvPicPr>
          <p:cNvPr id="252" name="Google Shape;252;p29"/>
          <p:cNvPicPr preferRelativeResize="0"/>
          <p:nvPr/>
        </p:nvPicPr>
        <p:blipFill>
          <a:blip r:embed="rId4">
            <a:alphaModFix/>
          </a:blip>
          <a:stretch>
            <a:fillRect/>
          </a:stretch>
        </p:blipFill>
        <p:spPr>
          <a:xfrm>
            <a:off x="0" y="0"/>
            <a:ext cx="2270575" cy="246800"/>
          </a:xfrm>
          <a:prstGeom prst="rect">
            <a:avLst/>
          </a:prstGeom>
          <a:noFill/>
          <a:ln>
            <a:noFill/>
          </a:ln>
        </p:spPr>
      </p:pic>
      <p:pic>
        <p:nvPicPr>
          <p:cNvPr id="253" name="Google Shape;253;p29"/>
          <p:cNvPicPr preferRelativeResize="0"/>
          <p:nvPr/>
        </p:nvPicPr>
        <p:blipFill>
          <a:blip r:embed="rId5">
            <a:alphaModFix/>
          </a:blip>
          <a:stretch>
            <a:fillRect/>
          </a:stretch>
        </p:blipFill>
        <p:spPr>
          <a:xfrm>
            <a:off x="5857875" y="246800"/>
            <a:ext cx="5441899" cy="2627376"/>
          </a:xfrm>
          <a:prstGeom prst="rect">
            <a:avLst/>
          </a:prstGeom>
          <a:noFill/>
          <a:ln>
            <a:noFill/>
          </a:ln>
        </p:spPr>
      </p:pic>
      <p:pic>
        <p:nvPicPr>
          <p:cNvPr id="254" name="Google Shape;254;p29"/>
          <p:cNvPicPr preferRelativeResize="0"/>
          <p:nvPr/>
        </p:nvPicPr>
        <p:blipFill>
          <a:blip r:embed="rId6">
            <a:alphaModFix/>
          </a:blip>
          <a:stretch>
            <a:fillRect/>
          </a:stretch>
        </p:blipFill>
        <p:spPr>
          <a:xfrm>
            <a:off x="5857875" y="0"/>
            <a:ext cx="2167548" cy="246800"/>
          </a:xfrm>
          <a:prstGeom prst="rect">
            <a:avLst/>
          </a:prstGeom>
          <a:noFill/>
          <a:ln>
            <a:noFill/>
          </a:ln>
        </p:spPr>
      </p:pic>
      <p:pic>
        <p:nvPicPr>
          <p:cNvPr id="255" name="Google Shape;255;p29"/>
          <p:cNvPicPr preferRelativeResize="0"/>
          <p:nvPr/>
        </p:nvPicPr>
        <p:blipFill>
          <a:blip r:embed="rId7">
            <a:alphaModFix/>
          </a:blip>
          <a:stretch>
            <a:fillRect/>
          </a:stretch>
        </p:blipFill>
        <p:spPr>
          <a:xfrm>
            <a:off x="0" y="3383100"/>
            <a:ext cx="3675775" cy="3474900"/>
          </a:xfrm>
          <a:prstGeom prst="rect">
            <a:avLst/>
          </a:prstGeom>
          <a:noFill/>
          <a:ln>
            <a:noFill/>
          </a:ln>
        </p:spPr>
      </p:pic>
      <p:pic>
        <p:nvPicPr>
          <p:cNvPr id="256" name="Google Shape;256;p29"/>
          <p:cNvPicPr preferRelativeResize="0"/>
          <p:nvPr/>
        </p:nvPicPr>
        <p:blipFill>
          <a:blip r:embed="rId8">
            <a:alphaModFix/>
          </a:blip>
          <a:stretch>
            <a:fillRect/>
          </a:stretch>
        </p:blipFill>
        <p:spPr>
          <a:xfrm>
            <a:off x="1" y="3136300"/>
            <a:ext cx="1999094" cy="246800"/>
          </a:xfrm>
          <a:prstGeom prst="rect">
            <a:avLst/>
          </a:prstGeom>
          <a:noFill/>
          <a:ln>
            <a:noFill/>
          </a:ln>
        </p:spPr>
      </p:pic>
      <p:pic>
        <p:nvPicPr>
          <p:cNvPr id="257" name="Google Shape;257;p29"/>
          <p:cNvPicPr preferRelativeResize="0"/>
          <p:nvPr/>
        </p:nvPicPr>
        <p:blipFill>
          <a:blip r:embed="rId9">
            <a:alphaModFix/>
          </a:blip>
          <a:stretch>
            <a:fillRect/>
          </a:stretch>
        </p:blipFill>
        <p:spPr>
          <a:xfrm>
            <a:off x="3859025" y="3071350"/>
            <a:ext cx="4676050" cy="2266975"/>
          </a:xfrm>
          <a:prstGeom prst="rect">
            <a:avLst/>
          </a:prstGeom>
          <a:noFill/>
          <a:ln>
            <a:noFill/>
          </a:ln>
        </p:spPr>
      </p:pic>
      <p:pic>
        <p:nvPicPr>
          <p:cNvPr id="258" name="Google Shape;258;p29"/>
          <p:cNvPicPr preferRelativeResize="0"/>
          <p:nvPr/>
        </p:nvPicPr>
        <p:blipFill>
          <a:blip r:embed="rId10">
            <a:alphaModFix/>
          </a:blip>
          <a:stretch>
            <a:fillRect/>
          </a:stretch>
        </p:blipFill>
        <p:spPr>
          <a:xfrm>
            <a:off x="6569042" y="4777150"/>
            <a:ext cx="4730733" cy="2080850"/>
          </a:xfrm>
          <a:prstGeom prst="rect">
            <a:avLst/>
          </a:prstGeom>
          <a:noFill/>
          <a:ln>
            <a:noFill/>
          </a:ln>
        </p:spPr>
      </p:pic>
      <p:pic>
        <p:nvPicPr>
          <p:cNvPr id="259" name="Google Shape;259;p29"/>
          <p:cNvPicPr preferRelativeResize="0"/>
          <p:nvPr/>
        </p:nvPicPr>
        <p:blipFill>
          <a:blip r:embed="rId11">
            <a:alphaModFix/>
          </a:blip>
          <a:stretch>
            <a:fillRect/>
          </a:stretch>
        </p:blipFill>
        <p:spPr>
          <a:xfrm rot="1389267">
            <a:off x="8535075" y="3841950"/>
            <a:ext cx="2644150" cy="246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0"/>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Verdachte reservaties</a:t>
            </a:r>
            <a:endParaRPr/>
          </a:p>
        </p:txBody>
      </p:sp>
      <p:sp>
        <p:nvSpPr>
          <p:cNvPr id="265" name="Google Shape;265;p30"/>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440"/>
              <a:buChar char="•"/>
            </a:pPr>
            <a:r>
              <a:rPr lang="nl-BE"/>
              <a:t>Zichtbaar voor admin</a:t>
            </a:r>
            <a:endParaRPr/>
          </a:p>
          <a:p>
            <a:pPr indent="-182880" lvl="0" marL="182880" rtl="0" algn="l">
              <a:lnSpc>
                <a:spcPct val="95000"/>
              </a:lnSpc>
              <a:spcBef>
                <a:spcPts val="1600"/>
              </a:spcBef>
              <a:spcAft>
                <a:spcPts val="0"/>
              </a:spcAft>
              <a:buSzPts val="1440"/>
              <a:buChar char="•"/>
            </a:pPr>
            <a:r>
              <a:rPr lang="nl-BE"/>
              <a:t>Verdacht als:</a:t>
            </a:r>
            <a:endParaRPr/>
          </a:p>
          <a:p>
            <a:pPr indent="-182880" lvl="1" marL="457200" rtl="0" algn="l">
              <a:lnSpc>
                <a:spcPct val="90000"/>
              </a:lnSpc>
              <a:spcBef>
                <a:spcPts val="500"/>
              </a:spcBef>
              <a:spcAft>
                <a:spcPts val="0"/>
              </a:spcAft>
              <a:buSzPts val="1600"/>
              <a:buChar char="●"/>
            </a:pPr>
            <a:r>
              <a:rPr lang="nl-BE"/>
              <a:t>Voor 6:00</a:t>
            </a:r>
            <a:endParaRPr/>
          </a:p>
          <a:p>
            <a:pPr indent="-182880" lvl="1" marL="457200" rtl="0" algn="l">
              <a:lnSpc>
                <a:spcPct val="90000"/>
              </a:lnSpc>
              <a:spcBef>
                <a:spcPts val="600"/>
              </a:spcBef>
              <a:spcAft>
                <a:spcPts val="0"/>
              </a:spcAft>
              <a:buSzPts val="1600"/>
              <a:buChar char="●"/>
            </a:pPr>
            <a:r>
              <a:rPr lang="nl-BE"/>
              <a:t>Na 22:00</a:t>
            </a:r>
            <a:endParaRPr/>
          </a:p>
          <a:p>
            <a:pPr indent="-182880" lvl="1" marL="457200" rtl="0" algn="l">
              <a:lnSpc>
                <a:spcPct val="90000"/>
              </a:lnSpc>
              <a:spcBef>
                <a:spcPts val="600"/>
              </a:spcBef>
              <a:spcAft>
                <a:spcPts val="0"/>
              </a:spcAft>
              <a:buSzPts val="1600"/>
              <a:buChar char="●"/>
            </a:pPr>
            <a:r>
              <a:rPr lang="nl-BE"/>
              <a:t>Als één persoon meerdere reservaties op hetzelfde tijdstip</a:t>
            </a:r>
            <a:endParaRPr/>
          </a:p>
          <a:p>
            <a:pPr indent="-81279" lvl="1" marL="457200" rtl="0" algn="l">
              <a:lnSpc>
                <a:spcPct val="90000"/>
              </a:lnSpc>
              <a:spcBef>
                <a:spcPts val="600"/>
              </a:spcBef>
              <a:spcAft>
                <a:spcPts val="0"/>
              </a:spcAft>
              <a:buSzPts val="1600"/>
              <a:buNone/>
            </a:pPr>
            <a:r>
              <a:t/>
            </a:r>
            <a:endParaRPr/>
          </a:p>
        </p:txBody>
      </p:sp>
      <p:pic>
        <p:nvPicPr>
          <p:cNvPr id="266" name="Google Shape;266;p30"/>
          <p:cNvPicPr preferRelativeResize="0"/>
          <p:nvPr/>
        </p:nvPicPr>
        <p:blipFill rotWithShape="1">
          <a:blip r:embed="rId3">
            <a:alphaModFix/>
          </a:blip>
          <a:srcRect b="0" l="0" r="0" t="0"/>
          <a:stretch/>
        </p:blipFill>
        <p:spPr>
          <a:xfrm>
            <a:off x="424860" y="4004468"/>
            <a:ext cx="10269383" cy="103837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p31"/>
          <p:cNvSpPr/>
          <p:nvPr/>
        </p:nvSpPr>
        <p:spPr>
          <a:xfrm>
            <a:off x="0" y="-6215"/>
            <a:ext cx="11292840" cy="68642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273" name="Google Shape;273;p31"/>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De Database</a:t>
            </a:r>
            <a:endParaRPr/>
          </a:p>
        </p:txBody>
      </p:sp>
      <p:pic>
        <p:nvPicPr>
          <p:cNvPr id="274" name="Google Shape;274;p31" title="Supabase_model_backup.png"/>
          <p:cNvPicPr preferRelativeResize="0"/>
          <p:nvPr/>
        </p:nvPicPr>
        <p:blipFill>
          <a:blip r:embed="rId3">
            <a:alphaModFix/>
          </a:blip>
          <a:stretch>
            <a:fillRect/>
          </a:stretch>
        </p:blipFill>
        <p:spPr>
          <a:xfrm>
            <a:off x="2055840" y="1796950"/>
            <a:ext cx="7181175" cy="4835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User</a:t>
            </a:r>
            <a:endParaRPr/>
          </a:p>
        </p:txBody>
      </p:sp>
      <p:pic>
        <p:nvPicPr>
          <p:cNvPr descr="A screenshot of a phone&#10;&#10;AI-generated content may be incorrect." id="281" name="Google Shape;281;p32"/>
          <p:cNvPicPr preferRelativeResize="0"/>
          <p:nvPr>
            <p:ph idx="1" type="body"/>
          </p:nvPr>
        </p:nvPicPr>
        <p:blipFill rotWithShape="1">
          <a:blip r:embed="rId3">
            <a:alphaModFix/>
          </a:blip>
          <a:srcRect b="0" l="0" r="0" t="0"/>
          <a:stretch/>
        </p:blipFill>
        <p:spPr>
          <a:xfrm>
            <a:off x="3977508" y="1966052"/>
            <a:ext cx="3381900" cy="3762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Reservation</a:t>
            </a:r>
            <a:endParaRPr/>
          </a:p>
        </p:txBody>
      </p:sp>
      <p:pic>
        <p:nvPicPr>
          <p:cNvPr descr="A screenshot of a phone&#10;&#10;AI-generated content may be incorrect." id="288" name="Google Shape;288;p33"/>
          <p:cNvPicPr preferRelativeResize="0"/>
          <p:nvPr/>
        </p:nvPicPr>
        <p:blipFill rotWithShape="1">
          <a:blip r:embed="rId3">
            <a:alphaModFix/>
          </a:blip>
          <a:srcRect b="0" l="0" r="0" t="0"/>
          <a:stretch/>
        </p:blipFill>
        <p:spPr>
          <a:xfrm>
            <a:off x="5215794" y="1691322"/>
            <a:ext cx="5001323" cy="1810003"/>
          </a:xfrm>
          <a:prstGeom prst="rect">
            <a:avLst/>
          </a:prstGeom>
          <a:noFill/>
          <a:ln>
            <a:noFill/>
          </a:ln>
        </p:spPr>
      </p:pic>
      <p:pic>
        <p:nvPicPr>
          <p:cNvPr descr="A screenshot of a phone&#10;&#10;AI-generated content may be incorrect." id="289" name="Google Shape;289;p33"/>
          <p:cNvPicPr preferRelativeResize="0"/>
          <p:nvPr/>
        </p:nvPicPr>
        <p:blipFill rotWithShape="1">
          <a:blip r:embed="rId4">
            <a:alphaModFix/>
          </a:blip>
          <a:srcRect b="0" l="0" r="0" t="0"/>
          <a:stretch/>
        </p:blipFill>
        <p:spPr>
          <a:xfrm>
            <a:off x="5301531" y="3931412"/>
            <a:ext cx="4915586" cy="1790950"/>
          </a:xfrm>
          <a:prstGeom prst="rect">
            <a:avLst/>
          </a:prstGeom>
          <a:noFill/>
          <a:ln>
            <a:noFill/>
          </a:ln>
        </p:spPr>
      </p:pic>
      <p:pic>
        <p:nvPicPr>
          <p:cNvPr descr="A screenshot of a phone&#10;&#10;AI-generated content may be incorrect." id="290" name="Google Shape;290;p33"/>
          <p:cNvPicPr preferRelativeResize="0"/>
          <p:nvPr/>
        </p:nvPicPr>
        <p:blipFill rotWithShape="1">
          <a:blip r:embed="rId5">
            <a:alphaModFix/>
          </a:blip>
          <a:srcRect b="0" l="0" r="0" t="0"/>
          <a:stretch/>
        </p:blipFill>
        <p:spPr>
          <a:xfrm>
            <a:off x="1358171" y="2092830"/>
            <a:ext cx="3248478" cy="362953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Andere tabellen</a:t>
            </a:r>
            <a:endParaRPr/>
          </a:p>
        </p:txBody>
      </p:sp>
      <p:pic>
        <p:nvPicPr>
          <p:cNvPr descr="A screenshot of a phone&#10;&#10;AI-generated content may be incorrect." id="297" name="Google Shape;297;p34"/>
          <p:cNvPicPr preferRelativeResize="0"/>
          <p:nvPr/>
        </p:nvPicPr>
        <p:blipFill rotWithShape="1">
          <a:blip r:embed="rId3">
            <a:alphaModFix/>
          </a:blip>
          <a:srcRect b="0" l="0" r="0" t="0"/>
          <a:stretch/>
        </p:blipFill>
        <p:spPr>
          <a:xfrm>
            <a:off x="513741" y="1840375"/>
            <a:ext cx="2550666" cy="4281475"/>
          </a:xfrm>
          <a:prstGeom prst="rect">
            <a:avLst/>
          </a:prstGeom>
          <a:noFill/>
          <a:ln>
            <a:noFill/>
          </a:ln>
        </p:spPr>
      </p:pic>
      <p:pic>
        <p:nvPicPr>
          <p:cNvPr descr="A screenshot of a computer&#10;&#10;AI-generated content may be incorrect." id="298" name="Google Shape;298;p34"/>
          <p:cNvPicPr preferRelativeResize="0"/>
          <p:nvPr/>
        </p:nvPicPr>
        <p:blipFill rotWithShape="1">
          <a:blip r:embed="rId4">
            <a:alphaModFix/>
          </a:blip>
          <a:srcRect b="0" l="0" r="0" t="0"/>
          <a:stretch/>
        </p:blipFill>
        <p:spPr>
          <a:xfrm>
            <a:off x="3810885" y="2426877"/>
            <a:ext cx="2834825" cy="3108458"/>
          </a:xfrm>
          <a:prstGeom prst="rect">
            <a:avLst/>
          </a:prstGeom>
          <a:noFill/>
          <a:ln>
            <a:noFill/>
          </a:ln>
        </p:spPr>
      </p:pic>
      <p:pic>
        <p:nvPicPr>
          <p:cNvPr descr="A screenshot of a computer&#10;&#10;AI-generated content may be incorrect." id="299" name="Google Shape;299;p34"/>
          <p:cNvPicPr preferRelativeResize="0"/>
          <p:nvPr/>
        </p:nvPicPr>
        <p:blipFill rotWithShape="1">
          <a:blip r:embed="rId5">
            <a:alphaModFix/>
          </a:blip>
          <a:srcRect b="0" l="0" r="0" t="0"/>
          <a:stretch/>
        </p:blipFill>
        <p:spPr>
          <a:xfrm>
            <a:off x="7392188" y="2971321"/>
            <a:ext cx="2920977" cy="201958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pic>
        <p:nvPicPr>
          <p:cNvPr descr="Afbeelding met tekst, Multimediasoftware, software, schermopname&#10;&#10;Door AI gegenereerde inhoud is mogelijk onjuist." id="304" name="Google Shape;304;p35"/>
          <p:cNvPicPr preferRelativeResize="0"/>
          <p:nvPr/>
        </p:nvPicPr>
        <p:blipFill rotWithShape="1">
          <a:blip r:embed="rId3">
            <a:alphaModFix/>
          </a:blip>
          <a:srcRect b="0" l="4707" r="14412" t="0"/>
          <a:stretch/>
        </p:blipFill>
        <p:spPr>
          <a:xfrm>
            <a:off x="545846" y="1691327"/>
            <a:ext cx="10408665" cy="1977646"/>
          </a:xfrm>
          <a:prstGeom prst="rect">
            <a:avLst/>
          </a:prstGeom>
          <a:noFill/>
          <a:ln>
            <a:noFill/>
          </a:ln>
        </p:spPr>
      </p:pic>
      <p:sp>
        <p:nvSpPr>
          <p:cNvPr id="305" name="Google Shape;305;p35"/>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Schaalbaarheid</a:t>
            </a:r>
            <a:endParaRPr/>
          </a:p>
        </p:txBody>
      </p:sp>
      <p:pic>
        <p:nvPicPr>
          <p:cNvPr id="306" name="Google Shape;306;p35"/>
          <p:cNvPicPr preferRelativeResize="0"/>
          <p:nvPr/>
        </p:nvPicPr>
        <p:blipFill>
          <a:blip r:embed="rId4">
            <a:alphaModFix/>
          </a:blip>
          <a:stretch>
            <a:fillRect/>
          </a:stretch>
        </p:blipFill>
        <p:spPr>
          <a:xfrm>
            <a:off x="5525850" y="3708875"/>
            <a:ext cx="4461251" cy="3149124"/>
          </a:xfrm>
          <a:prstGeom prst="rect">
            <a:avLst/>
          </a:prstGeom>
          <a:noFill/>
          <a:ln>
            <a:noFill/>
          </a:ln>
        </p:spPr>
      </p:pic>
      <p:pic>
        <p:nvPicPr>
          <p:cNvPr id="307" name="Google Shape;307;p35"/>
          <p:cNvPicPr preferRelativeResize="0"/>
          <p:nvPr/>
        </p:nvPicPr>
        <p:blipFill>
          <a:blip r:embed="rId5">
            <a:alphaModFix/>
          </a:blip>
          <a:stretch>
            <a:fillRect/>
          </a:stretch>
        </p:blipFill>
        <p:spPr>
          <a:xfrm>
            <a:off x="545850" y="3708875"/>
            <a:ext cx="3499928" cy="27499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Conflicten die zijn opgelost</a:t>
            </a:r>
            <a:endParaRPr/>
          </a:p>
        </p:txBody>
      </p:sp>
      <p:sp>
        <p:nvSpPr>
          <p:cNvPr id="313" name="Google Shape;313;p36"/>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440"/>
              <a:buChar char="•"/>
            </a:pPr>
            <a:r>
              <a:rPr lang="nl-BE"/>
              <a:t>Als een bureau gebruikt wordt op een bepaald uur is deze niet te zien wanneer men een nieuwe reservatie aanmaakt op dat uur</a:t>
            </a:r>
            <a:endParaRPr/>
          </a:p>
          <a:p>
            <a:pPr indent="-182880" lvl="0" marL="182880" rtl="0" algn="l">
              <a:lnSpc>
                <a:spcPct val="95000"/>
              </a:lnSpc>
              <a:spcBef>
                <a:spcPts val="1600"/>
              </a:spcBef>
              <a:spcAft>
                <a:spcPts val="0"/>
              </a:spcAft>
              <a:buSzPts val="1440"/>
              <a:buChar char="•"/>
            </a:pPr>
            <a:r>
              <a:rPr lang="nl-BE"/>
              <a:t>Nieuw gebouw aanmaken -&gt; als gebouwnaam al bestaat -&gt; foutmelding</a:t>
            </a:r>
            <a:endParaRPr/>
          </a:p>
          <a:p>
            <a:pPr indent="-182880" lvl="0" marL="182880" rtl="0" algn="l">
              <a:lnSpc>
                <a:spcPct val="95000"/>
              </a:lnSpc>
              <a:spcBef>
                <a:spcPts val="1600"/>
              </a:spcBef>
              <a:spcAft>
                <a:spcPts val="0"/>
              </a:spcAft>
              <a:buSzPts val="1440"/>
              <a:buChar char="•"/>
            </a:pPr>
            <a:r>
              <a:rPr lang="nl-BE"/>
              <a:t>Bij aanmaken van bureaus -&gt; zelfde bureaulocatie -&gt; foutmelding</a:t>
            </a:r>
            <a:endParaRPr/>
          </a:p>
          <a:p>
            <a:pPr indent="-182880" lvl="0" marL="182880" rtl="0" algn="l">
              <a:lnSpc>
                <a:spcPct val="95000"/>
              </a:lnSpc>
              <a:spcBef>
                <a:spcPts val="1600"/>
              </a:spcBef>
              <a:spcAft>
                <a:spcPts val="0"/>
              </a:spcAft>
              <a:buSzPts val="1440"/>
              <a:buChar char="•"/>
            </a:pPr>
            <a:r>
              <a:rPr lang="nl-BE"/>
              <a:t>Niet mogelijk om een reservatie te maken in het verleden</a:t>
            </a:r>
            <a:endParaRPr/>
          </a:p>
          <a:p>
            <a:pPr indent="-182880" lvl="0" marL="182880" rtl="0" algn="l">
              <a:lnSpc>
                <a:spcPct val="95000"/>
              </a:lnSpc>
              <a:spcBef>
                <a:spcPts val="1600"/>
              </a:spcBef>
              <a:spcAft>
                <a:spcPts val="0"/>
              </a:spcAft>
              <a:buSzPts val="1440"/>
              <a:buChar char="•"/>
            </a:pPr>
            <a:r>
              <a:rPr lang="nl-BE"/>
              <a:t>Als je op ‘wijzig criteria’ bij beschikbare bureaus klikt, ga je terug naar vorig scherm waarin alles nog is ingevuld, je hoeft dus niet alles opnieuw in te vullen</a:t>
            </a:r>
            <a:endParaRPr/>
          </a:p>
          <a:p>
            <a:pPr indent="-182880" lvl="0" marL="182880" rtl="0" algn="l">
              <a:lnSpc>
                <a:spcPct val="95000"/>
              </a:lnSpc>
              <a:spcBef>
                <a:spcPts val="1600"/>
              </a:spcBef>
              <a:spcAft>
                <a:spcPts val="0"/>
              </a:spcAft>
              <a:buSzPts val="1440"/>
              <a:buChar char="•"/>
            </a:pPr>
            <a:r>
              <a:rPr lang="nl-BE"/>
              <a:t>De woorden waarop gefilterd wordt (complex algoritme), kunnen in de database aangepast worden; ze staan niet meer hardcoded in VSC</a:t>
            </a:r>
            <a:endParaRPr/>
          </a:p>
          <a:p>
            <a:pPr indent="-91440" lvl="0" marL="182880" rtl="0" algn="l">
              <a:lnSpc>
                <a:spcPct val="95000"/>
              </a:lnSpc>
              <a:spcBef>
                <a:spcPts val="1600"/>
              </a:spcBef>
              <a:spcAft>
                <a:spcPts val="0"/>
              </a:spcAft>
              <a:buSzPts val="144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7"/>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nl-BE"/>
              <a:t>Conclusie</a:t>
            </a:r>
            <a:endParaRPr/>
          </a:p>
        </p:txBody>
      </p:sp>
      <p:sp>
        <p:nvSpPr>
          <p:cNvPr id="319" name="Google Shape;319;p37"/>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440"/>
              <a:buChar char="•"/>
            </a:pPr>
            <a:r>
              <a:rPr lang="nl-BE"/>
              <a:t>Mogelijke toekomstige uitbreidingen: Teams / outlook koppelen &amp; statistieken over bezetting</a:t>
            </a:r>
            <a:endParaRPr/>
          </a:p>
          <a:p>
            <a:pPr indent="-182880" lvl="0" marL="182880" rtl="0" algn="l">
              <a:lnSpc>
                <a:spcPct val="95000"/>
              </a:lnSpc>
              <a:spcBef>
                <a:spcPts val="1600"/>
              </a:spcBef>
              <a:spcAft>
                <a:spcPts val="0"/>
              </a:spcAft>
              <a:buSzPts val="1440"/>
              <a:buChar char="•"/>
            </a:pPr>
            <a:r>
              <a:rPr lang="nl-BE"/>
              <a:t>Overzichtelijk, gebruiksvriendelijk reservatiesysteem</a:t>
            </a:r>
            <a:endParaRPr/>
          </a:p>
          <a:p>
            <a:pPr indent="-182880" lvl="0" marL="182880" rtl="0" algn="l">
              <a:lnSpc>
                <a:spcPct val="95000"/>
              </a:lnSpc>
              <a:spcBef>
                <a:spcPts val="1600"/>
              </a:spcBef>
              <a:spcAft>
                <a:spcPts val="0"/>
              </a:spcAft>
              <a:buSzPts val="1440"/>
              <a:buChar char="•"/>
            </a:pPr>
            <a:r>
              <a:rPr lang="nl-BE"/>
              <a:t>Software kan makkelijk uitgebreid worden voor meerdere bedrijven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8"/>
          <p:cNvSpPr txBox="1"/>
          <p:nvPr>
            <p:ph type="title"/>
          </p:nvPr>
        </p:nvSpPr>
        <p:spPr>
          <a:xfrm>
            <a:off x="926922" y="2766160"/>
            <a:ext cx="9692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entury Schoolbook"/>
              <a:buNone/>
            </a:pPr>
            <a:r>
              <a:rPr lang="nl-BE"/>
              <a:t>Zijn er nog vragen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eergave">
  <a:themeElements>
    <a:clrScheme name="Oranj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Kantoorthema">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eergave">
  <a:themeElements>
    <a:clrScheme name="Oranje">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